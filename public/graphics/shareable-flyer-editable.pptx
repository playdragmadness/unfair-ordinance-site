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c71d1c06fc4e09" /><Relationship Type="http://schemas.openxmlformats.org/officeDocument/2006/relationships/extended-properties" Target="/docProps/app.xml" Id="Rc9939cecc1f14ea7" /><Relationship Type="http://schemas.openxmlformats.org/officeDocument/2006/relationships/officeDocument" Target="/ppt/presentation.xml" Id="Rce3eb14f8b8247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d8e758133f40ae"/>
  </p:sldMasterIdLst>
  <p:notesMasterIdLst>
    <p:notesMasterId xmlns:r="http://schemas.openxmlformats.org/officeDocument/2006/relationships" r:id="R037d8ee0f77341d3"/>
  </p:notesMasterIdLst>
  <p:sldIdLst>
    <p:sldId xmlns:r="http://schemas.openxmlformats.org/officeDocument/2006/relationships" id="256" r:id="R6929357a611a4fee"/>
  </p:sldIdLst>
  <p:sldSz cx="10287000" cy="13312588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f3314e66c4fe7" /><Relationship Type="http://schemas.openxmlformats.org/officeDocument/2006/relationships/slideMaster" Target="/ppt/slideMasters/slideMaster1.xml" Id="Rc2d8e758133f40ae" /><Relationship Type="http://schemas.openxmlformats.org/officeDocument/2006/relationships/notesMaster" Target="/ppt/notesMasters/notesMaster1.xml" Id="R037d8ee0f77341d3" /><Relationship Type="http://schemas.openxmlformats.org/officeDocument/2006/relationships/presProps" Target="/ppt/presProps.xml" Id="R97d92393ccc14feb" /><Relationship Type="http://schemas.openxmlformats.org/officeDocument/2006/relationships/tableStyles" Target="/ppt/tableStyles.xml" Id="R70f5a3ca1ac1449b" /><Relationship Type="http://schemas.openxmlformats.org/officeDocument/2006/relationships/slide" Target="/ppt/slides/slide1.xml" Id="R6929357a611a4f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ebb393894c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62a8808984108" /><Relationship Type="http://schemas.openxmlformats.org/officeDocument/2006/relationships/notesMaster" Target="/ppt/notesMasters/notesMaster1.xml" Id="R47b9dbc96623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fab5e3add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d6e25eedb4966" /><Relationship Type="http://schemas.openxmlformats.org/officeDocument/2006/relationships/slideLayout" Target="/ppt/slideLayouts/slideLayout1.xml" Id="Rf4d2d519a15841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d2d519a15841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889d150994c12" /><Relationship Type="http://schemas.openxmlformats.org/officeDocument/2006/relationships/notesSlide" Target="/ppt/notesSlides/notesSlide1.xml" Id="R22395defd07d42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CF0687-38F0-4E88-8875-E734C14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3312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background">
            <a:extLst xmlns:a="http://schemas.openxmlformats.org/drawingml/2006/main">
              <a:ext uri="{FF2B5EF4-FFF2-40B4-BE49-F238E27FC236}">
                <a16:creationId xmlns:a16="http://schemas.microsoft.com/office/drawing/2014/main" id="{5AE4731D-4D17-4537-A20C-18CC6D77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stripe-1">
            <a:extLst xmlns:a="http://schemas.openxmlformats.org/drawingml/2006/main">
              <a:ext uri="{FF2B5EF4-FFF2-40B4-BE49-F238E27FC236}">
                <a16:creationId xmlns:a16="http://schemas.microsoft.com/office/drawing/2014/main" id="{A703FEE5-D7AB-44A5-88A1-7BAC207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39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stripe-2">
            <a:extLst xmlns:a="http://schemas.openxmlformats.org/drawingml/2006/main">
              <a:ext uri="{FF2B5EF4-FFF2-40B4-BE49-F238E27FC236}">
                <a16:creationId xmlns:a16="http://schemas.microsoft.com/office/drawing/2014/main" id="{398CB2A3-8FBF-475F-A2D0-A24A2D2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78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stripe-3">
            <a:extLst xmlns:a="http://schemas.openxmlformats.org/drawingml/2006/main">
              <a:ext uri="{FF2B5EF4-FFF2-40B4-BE49-F238E27FC236}">
                <a16:creationId xmlns:a16="http://schemas.microsoft.com/office/drawing/2014/main" id="{FAF6B094-4060-4D6D-87B9-CEEF830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16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ro-stripe-4">
            <a:extLst xmlns:a="http://schemas.openxmlformats.org/drawingml/2006/main">
              <a:ext uri="{FF2B5EF4-FFF2-40B4-BE49-F238E27FC236}">
                <a16:creationId xmlns:a16="http://schemas.microsoft.com/office/drawing/2014/main" id="{CC6FEE27-3FD7-4A14-AAF4-1DCF9295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555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ro-stripe-5">
            <a:extLst xmlns:a="http://schemas.openxmlformats.org/drawingml/2006/main">
              <a:ext uri="{FF2B5EF4-FFF2-40B4-BE49-F238E27FC236}">
                <a16:creationId xmlns:a16="http://schemas.microsoft.com/office/drawing/2014/main" id="{E390CB96-A417-474D-88A2-3C93FF4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694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ro-stripe-6">
            <a:extLst xmlns:a="http://schemas.openxmlformats.org/drawingml/2006/main">
              <a:ext uri="{FF2B5EF4-FFF2-40B4-BE49-F238E27FC236}">
                <a16:creationId xmlns:a16="http://schemas.microsoft.com/office/drawing/2014/main" id="{867C3F07-EB8D-4D01-A8E5-730BFE53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833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ero-stripe-7">
            <a:extLst xmlns:a="http://schemas.openxmlformats.org/drawingml/2006/main">
              <a:ext uri="{FF2B5EF4-FFF2-40B4-BE49-F238E27FC236}">
                <a16:creationId xmlns:a16="http://schemas.microsoft.com/office/drawing/2014/main" id="{CAC6A100-C244-4C16-9ECE-70F75AE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972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ro-stripe-8">
            <a:extLst xmlns:a="http://schemas.openxmlformats.org/drawingml/2006/main">
              <a:ext uri="{FF2B5EF4-FFF2-40B4-BE49-F238E27FC236}">
                <a16:creationId xmlns:a16="http://schemas.microsoft.com/office/drawing/2014/main" id="{5C6AE4F9-B69B-40B7-8432-8CCEC03D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111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ero-stripe-9">
            <a:extLst xmlns:a="http://schemas.openxmlformats.org/drawingml/2006/main">
              <a:ext uri="{FF2B5EF4-FFF2-40B4-BE49-F238E27FC236}">
                <a16:creationId xmlns:a16="http://schemas.microsoft.com/office/drawing/2014/main" id="{F02C5840-D2D2-4DBE-9B63-C56891EC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249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ro-stripe-10">
            <a:extLst xmlns:a="http://schemas.openxmlformats.org/drawingml/2006/main">
              <a:ext uri="{FF2B5EF4-FFF2-40B4-BE49-F238E27FC236}">
                <a16:creationId xmlns:a16="http://schemas.microsoft.com/office/drawing/2014/main" id="{2ACA6EC8-7B00-4D44-8FAF-A600820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388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ero-stripe-11">
            <a:extLst xmlns:a="http://schemas.openxmlformats.org/drawingml/2006/main">
              <a:ext uri="{FF2B5EF4-FFF2-40B4-BE49-F238E27FC236}">
                <a16:creationId xmlns:a16="http://schemas.microsoft.com/office/drawing/2014/main" id="{0E31C166-C781-494C-AC34-61A8216B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527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ro-stripe-12">
            <a:extLst xmlns:a="http://schemas.openxmlformats.org/drawingml/2006/main">
              <a:ext uri="{FF2B5EF4-FFF2-40B4-BE49-F238E27FC236}">
                <a16:creationId xmlns:a16="http://schemas.microsoft.com/office/drawing/2014/main" id="{70658165-734C-4EE5-89BA-082A738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666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ero-stripe-13">
            <a:extLst xmlns:a="http://schemas.openxmlformats.org/drawingml/2006/main">
              <a:ext uri="{FF2B5EF4-FFF2-40B4-BE49-F238E27FC236}">
                <a16:creationId xmlns:a16="http://schemas.microsoft.com/office/drawing/2014/main" id="{8010AAF3-E136-4F06-81DE-FD65990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805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ro-stripe-14">
            <a:extLst xmlns:a="http://schemas.openxmlformats.org/drawingml/2006/main">
              <a:ext uri="{FF2B5EF4-FFF2-40B4-BE49-F238E27FC236}">
                <a16:creationId xmlns:a16="http://schemas.microsoft.com/office/drawing/2014/main" id="{A71B1BB1-5129-407F-93E9-B1388504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944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ro-stripe-15">
            <a:extLst xmlns:a="http://schemas.openxmlformats.org/drawingml/2006/main">
              <a:ext uri="{FF2B5EF4-FFF2-40B4-BE49-F238E27FC236}">
                <a16:creationId xmlns:a16="http://schemas.microsoft.com/office/drawing/2014/main" id="{E528D5C8-2339-4CA8-9401-41F8660B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082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ero-stripe-16">
            <a:extLst xmlns:a="http://schemas.openxmlformats.org/drawingml/2006/main">
              <a:ext uri="{FF2B5EF4-FFF2-40B4-BE49-F238E27FC236}">
                <a16:creationId xmlns:a16="http://schemas.microsoft.com/office/drawing/2014/main" id="{419DDAC8-05CA-4C5E-A7C9-ABAC836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221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ero-stripe-17">
            <a:extLst xmlns:a="http://schemas.openxmlformats.org/drawingml/2006/main">
              <a:ext uri="{FF2B5EF4-FFF2-40B4-BE49-F238E27FC236}">
                <a16:creationId xmlns:a16="http://schemas.microsoft.com/office/drawing/2014/main" id="{9E236493-4FEA-4616-9060-DF66714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ero-stripe-18">
            <a:extLst xmlns:a="http://schemas.openxmlformats.org/drawingml/2006/main">
              <a:ext uri="{FF2B5EF4-FFF2-40B4-BE49-F238E27FC236}">
                <a16:creationId xmlns:a16="http://schemas.microsoft.com/office/drawing/2014/main" id="{7EC00ACB-F517-4CC5-922C-A9F67EE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499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ero-stripe-19">
            <a:extLst xmlns:a="http://schemas.openxmlformats.org/drawingml/2006/main">
              <a:ext uri="{FF2B5EF4-FFF2-40B4-BE49-F238E27FC236}">
                <a16:creationId xmlns:a16="http://schemas.microsoft.com/office/drawing/2014/main" id="{D0FDEA6E-3F94-4FC2-8273-1AF795FF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38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ero-stripe-20">
            <a:extLst xmlns:a="http://schemas.openxmlformats.org/drawingml/2006/main">
              <a:ext uri="{FF2B5EF4-FFF2-40B4-BE49-F238E27FC236}">
                <a16:creationId xmlns:a16="http://schemas.microsoft.com/office/drawing/2014/main" id="{752CDB42-23DC-4A54-9FF2-7C7B07A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776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ero-stripe-21">
            <a:extLst xmlns:a="http://schemas.openxmlformats.org/drawingml/2006/main">
              <a:ext uri="{FF2B5EF4-FFF2-40B4-BE49-F238E27FC236}">
                <a16:creationId xmlns:a16="http://schemas.microsoft.com/office/drawing/2014/main" id="{8B220833-5E22-450C-9D6E-7F2068C9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915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ero-stripe-22">
            <a:extLst xmlns:a="http://schemas.openxmlformats.org/drawingml/2006/main">
              <a:ext uri="{FF2B5EF4-FFF2-40B4-BE49-F238E27FC236}">
                <a16:creationId xmlns:a16="http://schemas.microsoft.com/office/drawing/2014/main" id="{B6B0D273-4E75-4848-952E-AD961EF7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054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ero-stripe-23">
            <a:extLst xmlns:a="http://schemas.openxmlformats.org/drawingml/2006/main">
              <a:ext uri="{FF2B5EF4-FFF2-40B4-BE49-F238E27FC236}">
                <a16:creationId xmlns:a16="http://schemas.microsoft.com/office/drawing/2014/main" id="{2C53B12F-9DA8-4BEC-B997-F8221BA9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93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ero-stripe-24">
            <a:extLst xmlns:a="http://schemas.openxmlformats.org/drawingml/2006/main">
              <a:ext uri="{FF2B5EF4-FFF2-40B4-BE49-F238E27FC236}">
                <a16:creationId xmlns:a16="http://schemas.microsoft.com/office/drawing/2014/main" id="{8D783D9F-CC86-4F34-BBE5-77EFBF2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332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ero-stripe-25">
            <a:extLst xmlns:a="http://schemas.openxmlformats.org/drawingml/2006/main">
              <a:ext uri="{FF2B5EF4-FFF2-40B4-BE49-F238E27FC236}">
                <a16:creationId xmlns:a16="http://schemas.microsoft.com/office/drawing/2014/main" id="{1CE39DE5-D3C1-48D1-B0A2-A9C3EFB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471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ero-stripe-26">
            <a:extLst xmlns:a="http://schemas.openxmlformats.org/drawingml/2006/main">
              <a:ext uri="{FF2B5EF4-FFF2-40B4-BE49-F238E27FC236}">
                <a16:creationId xmlns:a16="http://schemas.microsoft.com/office/drawing/2014/main" id="{DAB1D765-30E1-41BB-A4F7-34ECC1F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09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ero-stripe-27">
            <a:extLst xmlns:a="http://schemas.openxmlformats.org/drawingml/2006/main">
              <a:ext uri="{FF2B5EF4-FFF2-40B4-BE49-F238E27FC236}">
                <a16:creationId xmlns:a16="http://schemas.microsoft.com/office/drawing/2014/main" id="{56F683D1-6B9C-421A-86E0-8D747515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748" y="0"/>
            <a:ext cx="8068" cy="3186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yan-divider">
            <a:extLst xmlns:a="http://schemas.openxmlformats.org/drawingml/2006/main">
              <a:ext uri="{FF2B5EF4-FFF2-40B4-BE49-F238E27FC236}">
                <a16:creationId xmlns:a16="http://schemas.microsoft.com/office/drawing/2014/main" id="{B6627CDB-3694-46B7-AED8-D967024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6953"/>
            <a:ext cx="10287000" cy="96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lag-white">
            <a:extLst xmlns:a="http://schemas.openxmlformats.org/drawingml/2006/main">
              <a:ext uri="{FF2B5EF4-FFF2-40B4-BE49-F238E27FC236}">
                <a16:creationId xmlns:a16="http://schemas.microsoft.com/office/drawing/2014/main" id="{55138B01-05FC-4DE0-9A23-F6E2C14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282388"/>
            <a:ext cx="476026" cy="29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102">
            <a:solidFill>
              <a:srgbClr val="FFFFFF"/>
            </a:solidFill>
            <a:prstDash val="solid"/>
          </a:ln>
        </p:spPr>
      </p:sp>
      <p:sp>
        <p:nvSpPr>
          <p:cNvPr id="32" name="flag-blue">
            <a:extLst xmlns:a="http://schemas.openxmlformats.org/drawingml/2006/main">
              <a:ext uri="{FF2B5EF4-FFF2-40B4-BE49-F238E27FC236}">
                <a16:creationId xmlns:a16="http://schemas.microsoft.com/office/drawing/2014/main" id="{97A1FB54-2B4A-4911-96FB-1B14B42A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383241"/>
            <a:ext cx="476026" cy="96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ag-diamond-1">
            <a:extLst xmlns:a="http://schemas.openxmlformats.org/drawingml/2006/main">
              <a:ext uri="{FF2B5EF4-FFF2-40B4-BE49-F238E27FC236}">
                <a16:creationId xmlns:a16="http://schemas.microsoft.com/office/drawing/2014/main" id="{EE670A58-B8F6-4720-8781-2C354FC9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71" y="407446"/>
            <a:ext cx="72614" cy="7261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ag-diamond-2">
            <a:extLst xmlns:a="http://schemas.openxmlformats.org/drawingml/2006/main">
              <a:ext uri="{FF2B5EF4-FFF2-40B4-BE49-F238E27FC236}">
                <a16:creationId xmlns:a16="http://schemas.microsoft.com/office/drawing/2014/main" id="{DFBC516A-037F-4B20-B2FB-781F63E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85" y="407446"/>
            <a:ext cx="72614" cy="7261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lag-diamond-3">
            <a:extLst xmlns:a="http://schemas.openxmlformats.org/drawingml/2006/main">
              <a:ext uri="{FF2B5EF4-FFF2-40B4-BE49-F238E27FC236}">
                <a16:creationId xmlns:a16="http://schemas.microsoft.com/office/drawing/2014/main" id="{02B2AE4E-D3D6-41C3-8704-F938773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99" y="407446"/>
            <a:ext cx="72614" cy="7261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lag-diamond-4">
            <a:extLst xmlns:a="http://schemas.openxmlformats.org/drawingml/2006/main">
              <a:ext uri="{FF2B5EF4-FFF2-40B4-BE49-F238E27FC236}">
                <a16:creationId xmlns:a16="http://schemas.microsoft.com/office/drawing/2014/main" id="{C56B0170-CE74-463F-AF63-6124AE6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13" y="407446"/>
            <a:ext cx="72614" cy="7261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rand-name">
            <a:extLst xmlns:a="http://schemas.openxmlformats.org/drawingml/2006/main">
              <a:ext uri="{FF2B5EF4-FFF2-40B4-BE49-F238E27FC236}">
                <a16:creationId xmlns:a16="http://schemas.microsoft.com/office/drawing/2014/main" id="{FDEF6BDC-1E46-4D49-9DC6-F106FA6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35" y="322729"/>
            <a:ext cx="2420471" cy="225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25" b="1">
                <a:solidFill>
                  <a:srgbClr val="FFFFFF"/>
                </a:solidFill>
              </a:defRPr>
            </a:pPr>
            <a:r>
              <a:rPr sz="1525" b="1">
                <a:solidFill>
                  <a:srgbClr val="FFFFFF"/>
                </a:solidFill>
              </a:rPr>
              <a:t>UNFAIR ORDINANCE</a:t>
            </a:r>
          </a:p>
        </p:txBody>
      </p:sp>
      <p:sp>
        <p:nvSpPr>
          <p:cNvPr id="38" name="headline-1">
            <a:extLst xmlns:a="http://schemas.openxmlformats.org/drawingml/2006/main">
              <a:ext uri="{FF2B5EF4-FFF2-40B4-BE49-F238E27FC236}">
                <a16:creationId xmlns:a16="http://schemas.microsoft.com/office/drawing/2014/main" id="{4FFDF2BF-0125-4E41-98B7-BFF9113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1089212"/>
            <a:ext cx="4034118" cy="44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76" b="1">
                <a:solidFill>
                  <a:srgbClr val="FFFFFF"/>
                </a:solidFill>
              </a:defRPr>
            </a:pPr>
            <a:r>
              <a:rPr sz="3176" b="1">
                <a:solidFill>
                  <a:srgbClr val="FFFFFF"/>
                </a:solidFill>
              </a:rPr>
              <a:t>THE SO-CALLED</a:t>
            </a:r>
          </a:p>
        </p:txBody>
      </p:sp>
      <p:sp>
        <p:nvSpPr>
          <p:cNvPr id="39" name="headline-1-fair">
            <a:extLst xmlns:a="http://schemas.openxmlformats.org/drawingml/2006/main">
              <a:ext uri="{FF2B5EF4-FFF2-40B4-BE49-F238E27FC236}">
                <a16:creationId xmlns:a16="http://schemas.microsoft.com/office/drawing/2014/main" id="{6C65F10E-51ED-4C9D-9228-8D22E73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212" y="1089212"/>
            <a:ext cx="4840941" cy="44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76" b="1">
                <a:solidFill>
                  <a:srgbClr val="FF6472"/>
                </a:solidFill>
              </a:defRPr>
            </a:pPr>
            <a:r>
              <a:rPr sz="3176" b="1">
                <a:solidFill>
                  <a:srgbClr val="FF6472"/>
                </a:solidFill>
              </a:rPr>
              <a:t>FAIR ORDINANCE</a:t>
            </a:r>
          </a:p>
        </p:txBody>
      </p:sp>
      <p:sp>
        <p:nvSpPr>
          <p:cNvPr id="40" name="headline-2">
            <a:extLst xmlns:a="http://schemas.openxmlformats.org/drawingml/2006/main">
              <a:ext uri="{FF2B5EF4-FFF2-40B4-BE49-F238E27FC236}">
                <a16:creationId xmlns:a16="http://schemas.microsoft.com/office/drawing/2014/main" id="{642BFF56-5ACE-4E9E-A348-2725560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1541033"/>
            <a:ext cx="6051176" cy="44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76" b="1">
                <a:solidFill>
                  <a:srgbClr val="FFFFFF"/>
                </a:solidFill>
              </a:defRPr>
            </a:pPr>
            <a:r>
              <a:rPr sz="3176" b="1">
                <a:solidFill>
                  <a:srgbClr val="FFFFFF"/>
                </a:solidFill>
              </a:rPr>
              <a:t>IS AN UNFAIR ROLLBACK</a:t>
            </a:r>
          </a:p>
        </p:txBody>
      </p:sp>
      <p:sp>
        <p:nvSpPr>
          <p:cNvPr id="41" name="headline-3">
            <a:extLst xmlns:a="http://schemas.openxmlformats.org/drawingml/2006/main">
              <a:ext uri="{FF2B5EF4-FFF2-40B4-BE49-F238E27FC236}">
                <a16:creationId xmlns:a16="http://schemas.microsoft.com/office/drawing/2014/main" id="{0733B172-0FC5-4C5F-A1D1-E1C3792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1992854"/>
            <a:ext cx="3832412" cy="44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76" b="1">
                <a:solidFill>
                  <a:srgbClr val="FF6472"/>
                </a:solidFill>
              </a:defRPr>
            </a:pPr>
            <a:r>
              <a:rPr sz="3176" b="1">
                <a:solidFill>
                  <a:srgbClr val="FF6472"/>
                </a:solidFill>
              </a:rPr>
              <a:t>FOR RENTERS.</a:t>
            </a:r>
          </a:p>
        </p:txBody>
      </p:sp>
      <p:sp>
        <p:nvSpPr>
          <p:cNvPr id="42" name="subtitle-1">
            <a:extLst xmlns:a="http://schemas.openxmlformats.org/drawingml/2006/main">
              <a:ext uri="{FF2B5EF4-FFF2-40B4-BE49-F238E27FC236}">
                <a16:creationId xmlns:a16="http://schemas.microsoft.com/office/drawing/2014/main" id="{DF6F1BF2-7097-4515-ADB4-16A52ADA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2521324"/>
            <a:ext cx="6051176" cy="22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7" b="1">
                <a:solidFill>
                  <a:srgbClr val="D8E6F0"/>
                </a:solidFill>
              </a:defRPr>
            </a:pPr>
            <a:r>
              <a:rPr sz="1207" b="1">
                <a:solidFill>
                  <a:srgbClr val="D8E6F0"/>
                </a:solidFill>
              </a:rPr>
              <a:t>Chicago's current renter law is the floor.</a:t>
            </a:r>
          </a:p>
        </p:txBody>
      </p:sp>
      <p:sp>
        <p:nvSpPr>
          <p:cNvPr id="43" name="subtitle-2">
            <a:extLst xmlns:a="http://schemas.openxmlformats.org/drawingml/2006/main">
              <a:ext uri="{FF2B5EF4-FFF2-40B4-BE49-F238E27FC236}">
                <a16:creationId xmlns:a16="http://schemas.microsoft.com/office/drawing/2014/main" id="{D1CBE1D4-6C4C-4CC5-BE51-883B0E6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2723029"/>
            <a:ext cx="7664824" cy="22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7" b="1">
                <a:solidFill>
                  <a:srgbClr val="D8E6F0"/>
                </a:solidFill>
              </a:defRPr>
            </a:pPr>
            <a:r>
              <a:rPr sz="1207" b="1">
                <a:solidFill>
                  <a:srgbClr val="D8E6F0"/>
                </a:solidFill>
              </a:rPr>
              <a:t>The Protecting Renters Ordinance adds protections.</a:t>
            </a:r>
          </a:p>
        </p:txBody>
      </p:sp>
      <p:sp>
        <p:nvSpPr>
          <p:cNvPr id="44" name="subtitle-3">
            <a:extLst xmlns:a="http://schemas.openxmlformats.org/drawingml/2006/main">
              <a:ext uri="{FF2B5EF4-FFF2-40B4-BE49-F238E27FC236}">
                <a16:creationId xmlns:a16="http://schemas.microsoft.com/office/drawing/2014/main" id="{35A1D5C4-1C2C-4CC7-A3AF-3C3C680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8" y="2924735"/>
            <a:ext cx="6454588" cy="22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7" b="1">
                <a:solidFill>
                  <a:srgbClr val="D8E6F0"/>
                </a:solidFill>
              </a:defRPr>
            </a:pPr>
            <a:r>
              <a:rPr sz="1207" b="1">
                <a:solidFill>
                  <a:srgbClr val="D8E6F0"/>
                </a:solidFill>
              </a:rPr>
              <a:t>The Fair Ordinance would roll some back.</a:t>
            </a:r>
          </a:p>
        </p:txBody>
      </p:sp>
      <p:sp>
        <p:nvSpPr>
          <p:cNvPr id="45" name="table-body">
            <a:extLst xmlns:a="http://schemas.openxmlformats.org/drawingml/2006/main">
              <a:ext uri="{FF2B5EF4-FFF2-40B4-BE49-F238E27FC236}">
                <a16:creationId xmlns:a16="http://schemas.microsoft.com/office/drawing/2014/main" id="{339C795F-00EC-44ED-AB32-E170741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3630706"/>
            <a:ext cx="9681882" cy="7664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6136">
            <a:solidFill>
              <a:srgbClr val="DED4C2"/>
            </a:solidFill>
            <a:prstDash val="solid"/>
          </a:ln>
        </p:spPr>
      </p:sp>
      <p:sp>
        <p:nvSpPr>
          <p:cNvPr id="4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6F3C41E-F7CA-465A-A90C-B5269E0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3630706"/>
            <a:ext cx="9681882" cy="605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able-header-rule">
            <a:extLst xmlns:a="http://schemas.openxmlformats.org/drawingml/2006/main">
              <a:ext uri="{FF2B5EF4-FFF2-40B4-BE49-F238E27FC236}">
                <a16:creationId xmlns:a16="http://schemas.microsoft.com/office/drawing/2014/main" id="{C8C102C9-8604-4290-AF07-9D147E1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4235824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ble-row-rule-1">
            <a:extLst xmlns:a="http://schemas.openxmlformats.org/drawingml/2006/main">
              <a:ext uri="{FF2B5EF4-FFF2-40B4-BE49-F238E27FC236}">
                <a16:creationId xmlns:a16="http://schemas.microsoft.com/office/drawing/2014/main" id="{C09C514B-F723-4725-A03E-CF2DEB2E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5115261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ble-row-rule-2">
            <a:extLst xmlns:a="http://schemas.openxmlformats.org/drawingml/2006/main">
              <a:ext uri="{FF2B5EF4-FFF2-40B4-BE49-F238E27FC236}">
                <a16:creationId xmlns:a16="http://schemas.microsoft.com/office/drawing/2014/main" id="{35657CC4-CA14-47CA-BAEE-4FB2C2E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5994699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able-row-rule-3">
            <a:extLst xmlns:a="http://schemas.openxmlformats.org/drawingml/2006/main">
              <a:ext uri="{FF2B5EF4-FFF2-40B4-BE49-F238E27FC236}">
                <a16:creationId xmlns:a16="http://schemas.microsoft.com/office/drawing/2014/main" id="{7DDD914A-10AB-4B10-BA10-F73B174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6874136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ble-row-rule-4">
            <a:extLst xmlns:a="http://schemas.openxmlformats.org/drawingml/2006/main">
              <a:ext uri="{FF2B5EF4-FFF2-40B4-BE49-F238E27FC236}">
                <a16:creationId xmlns:a16="http://schemas.microsoft.com/office/drawing/2014/main" id="{7A7A74F3-6579-4BEB-914F-09E4DC73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7753574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ble-row-rule-5">
            <a:extLst xmlns:a="http://schemas.openxmlformats.org/drawingml/2006/main">
              <a:ext uri="{FF2B5EF4-FFF2-40B4-BE49-F238E27FC236}">
                <a16:creationId xmlns:a16="http://schemas.microsoft.com/office/drawing/2014/main" id="{6F75A0D6-06BE-4DE3-BC14-317D5AA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8633012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able-row-rule-6">
            <a:extLst xmlns:a="http://schemas.openxmlformats.org/drawingml/2006/main">
              <a:ext uri="{FF2B5EF4-FFF2-40B4-BE49-F238E27FC236}">
                <a16:creationId xmlns:a16="http://schemas.microsoft.com/office/drawing/2014/main" id="{A4ECB377-DBB2-489F-83FC-CA3A39E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9512449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able-row-rule-7">
            <a:extLst xmlns:a="http://schemas.openxmlformats.org/drawingml/2006/main">
              <a:ext uri="{FF2B5EF4-FFF2-40B4-BE49-F238E27FC236}">
                <a16:creationId xmlns:a16="http://schemas.microsoft.com/office/drawing/2014/main" id="{62CF42B5-7DCC-47AC-B3A6-8968194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10391887"/>
            <a:ext cx="9681882" cy="1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able-column-rule-1">
            <a:extLst xmlns:a="http://schemas.openxmlformats.org/drawingml/2006/main">
              <a:ext uri="{FF2B5EF4-FFF2-40B4-BE49-F238E27FC236}">
                <a16:creationId xmlns:a16="http://schemas.microsoft.com/office/drawing/2014/main" id="{EC4E8046-60BD-4112-AF28-BD5AF37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265" y="3630706"/>
            <a:ext cx="16136" cy="7664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able-column-rule-2">
            <a:extLst xmlns:a="http://schemas.openxmlformats.org/drawingml/2006/main">
              <a:ext uri="{FF2B5EF4-FFF2-40B4-BE49-F238E27FC236}">
                <a16:creationId xmlns:a16="http://schemas.microsoft.com/office/drawing/2014/main" id="{1743272F-0C72-4A7F-B4F0-9133D83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76" y="3630706"/>
            <a:ext cx="16136" cy="7664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able-column-rule-3">
            <a:extLst xmlns:a="http://schemas.openxmlformats.org/drawingml/2006/main">
              <a:ext uri="{FF2B5EF4-FFF2-40B4-BE49-F238E27FC236}">
                <a16:creationId xmlns:a16="http://schemas.microsoft.com/office/drawing/2014/main" id="{958BC412-3B7D-4CCA-8710-7EDC7DC1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212" y="3630706"/>
            <a:ext cx="16136" cy="7664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ing-protection">
            <a:extLst xmlns:a="http://schemas.openxmlformats.org/drawingml/2006/main">
              <a:ext uri="{FF2B5EF4-FFF2-40B4-BE49-F238E27FC236}">
                <a16:creationId xmlns:a16="http://schemas.microsoft.com/office/drawing/2014/main" id="{68FBD948-4ADF-4A76-8D65-78115AA2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3824344"/>
            <a:ext cx="3227294" cy="22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66" b="1">
                <a:solidFill>
                  <a:srgbClr val="0A1F33"/>
                </a:solidFill>
              </a:defRPr>
            </a:pPr>
            <a:r>
              <a:rPr sz="1366" b="1">
                <a:solidFill>
                  <a:srgbClr val="0A1F33"/>
                </a:solidFill>
              </a:rPr>
              <a:t>Protection</a:t>
            </a:r>
          </a:p>
        </p:txBody>
      </p:sp>
      <p:sp>
        <p:nvSpPr>
          <p:cNvPr id="59" name="heading-current">
            <a:extLst xmlns:a="http://schemas.openxmlformats.org/drawingml/2006/main">
              <a:ext uri="{FF2B5EF4-FFF2-40B4-BE49-F238E27FC236}">
                <a16:creationId xmlns:a16="http://schemas.microsoft.com/office/drawing/2014/main" id="{6324DCC3-861E-4571-BD54-0808C6A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265" y="3731559"/>
            <a:ext cx="2117912" cy="193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7" b="1">
                <a:solidFill>
                  <a:srgbClr val="0A1F33"/>
                </a:solidFill>
              </a:defRPr>
            </a:pPr>
            <a:r>
              <a:rPr sz="1207" b="1">
                <a:solidFill>
                  <a:srgbClr val="0A1F33"/>
                </a:solidFill>
              </a:rPr>
              <a:t>Current law</a:t>
            </a:r>
          </a:p>
        </p:txBody>
      </p:sp>
      <p:sp>
        <p:nvSpPr>
          <p:cNvPr id="60" name="heading-rlto">
            <a:extLst xmlns:a="http://schemas.openxmlformats.org/drawingml/2006/main">
              <a:ext uri="{FF2B5EF4-FFF2-40B4-BE49-F238E27FC236}">
                <a16:creationId xmlns:a16="http://schemas.microsoft.com/office/drawing/2014/main" id="{4EDF6D6F-1E2F-4AF5-95B8-C524EE8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265" y="3929231"/>
            <a:ext cx="2117912" cy="1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58" b="1">
                <a:solidFill>
                  <a:srgbClr val="0A1F33"/>
                </a:solidFill>
              </a:defRPr>
            </a:pPr>
            <a:r>
              <a:rPr sz="858" b="1">
                <a:solidFill>
                  <a:srgbClr val="0A1F33"/>
                </a:solidFill>
              </a:rPr>
              <a:t>RLTO</a:t>
            </a:r>
          </a:p>
        </p:txBody>
      </p:sp>
      <p:sp>
        <p:nvSpPr>
          <p:cNvPr id="61" name="heading-pro">
            <a:extLst xmlns:a="http://schemas.openxmlformats.org/drawingml/2006/main">
              <a:ext uri="{FF2B5EF4-FFF2-40B4-BE49-F238E27FC236}">
                <a16:creationId xmlns:a16="http://schemas.microsoft.com/office/drawing/2014/main" id="{9F6C17B1-0E54-4391-8A01-CA23FF7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76" y="3703320"/>
            <a:ext cx="1896035" cy="193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0A1F33"/>
                </a:solidFill>
              </a:defRPr>
            </a:pPr>
            <a:r>
              <a:rPr sz="1080" b="1">
                <a:solidFill>
                  <a:srgbClr val="0A1F33"/>
                </a:solidFill>
              </a:rPr>
              <a:t>Protecting Renters</a:t>
            </a:r>
          </a:p>
        </p:txBody>
      </p:sp>
      <p:sp>
        <p:nvSpPr>
          <p:cNvPr id="62" name="heading-pro-2">
            <a:extLst xmlns:a="http://schemas.openxmlformats.org/drawingml/2006/main">
              <a:ext uri="{FF2B5EF4-FFF2-40B4-BE49-F238E27FC236}">
                <a16:creationId xmlns:a16="http://schemas.microsoft.com/office/drawing/2014/main" id="{E7D6406D-C58B-4F5D-A3FE-B343268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176" y="3872753"/>
            <a:ext cx="1896035" cy="193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0A1F33"/>
                </a:solidFill>
              </a:defRPr>
            </a:pPr>
            <a:r>
              <a:rPr sz="1080" b="1">
                <a:solidFill>
                  <a:srgbClr val="0A1F33"/>
                </a:solidFill>
              </a:rPr>
              <a:t>Ordinance</a:t>
            </a:r>
          </a:p>
        </p:txBody>
      </p:sp>
      <p:sp>
        <p:nvSpPr>
          <p:cNvPr id="63" name="heading-fair">
            <a:extLst xmlns:a="http://schemas.openxmlformats.org/drawingml/2006/main">
              <a:ext uri="{FF2B5EF4-FFF2-40B4-BE49-F238E27FC236}">
                <a16:creationId xmlns:a16="http://schemas.microsoft.com/office/drawing/2014/main" id="{5354EEC6-DF6F-4501-8601-EDB9BF5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212" y="3731559"/>
            <a:ext cx="2037229" cy="193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0A1F33"/>
                </a:solidFill>
              </a:defRPr>
            </a:pPr>
            <a:r>
              <a:rPr sz="1080" b="1">
                <a:solidFill>
                  <a:srgbClr val="0A1F33"/>
                </a:solidFill>
              </a:rPr>
              <a:t>“Fair Ordinance”</a:t>
            </a:r>
          </a:p>
        </p:txBody>
      </p:sp>
      <p:sp>
        <p:nvSpPr>
          <p:cNvPr id="64" name="heading-fair-2">
            <a:extLst xmlns:a="http://schemas.openxmlformats.org/drawingml/2006/main">
              <a:ext uri="{FF2B5EF4-FFF2-40B4-BE49-F238E27FC236}">
                <a16:creationId xmlns:a16="http://schemas.microsoft.com/office/drawing/2014/main" id="{A742CB0D-1D8E-4833-B160-2D3C5BE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212" y="3937299"/>
            <a:ext cx="2037229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counterproposal</a:t>
            </a:r>
          </a:p>
        </p:txBody>
      </p:sp>
      <p:sp>
        <p:nvSpPr>
          <p:cNvPr id="65" name="row-1-title-1">
            <a:extLst xmlns:a="http://schemas.openxmlformats.org/drawingml/2006/main">
              <a:ext uri="{FF2B5EF4-FFF2-40B4-BE49-F238E27FC236}">
                <a16:creationId xmlns:a16="http://schemas.microsoft.com/office/drawing/2014/main" id="{6714DE04-749C-499D-894A-A1922EB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4356847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Just cause to end or refuse</a:t>
            </a:r>
          </a:p>
        </p:txBody>
      </p:sp>
      <p:sp>
        <p:nvSpPr>
          <p:cNvPr id="66" name="row-1-title-2">
            <a:extLst xmlns:a="http://schemas.openxmlformats.org/drawingml/2006/main">
              <a:ext uri="{FF2B5EF4-FFF2-40B4-BE49-F238E27FC236}">
                <a16:creationId xmlns:a16="http://schemas.microsoft.com/office/drawing/2014/main" id="{BEC4321F-C049-4910-8B08-1AAC205A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4514178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renewal of a tenancy</a:t>
            </a:r>
          </a:p>
        </p:txBody>
      </p:sp>
      <p:sp>
        <p:nvSpPr>
          <p:cNvPr id="67" name="row-1-note-1">
            <a:extLst xmlns:a="http://schemas.openxmlformats.org/drawingml/2006/main">
              <a:ext uri="{FF2B5EF4-FFF2-40B4-BE49-F238E27FC236}">
                <a16:creationId xmlns:a16="http://schemas.microsoft.com/office/drawing/2014/main" id="{2CB56FA4-430B-428D-ACD7-819DF18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4687645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A landlord must have a valid reason</a:t>
            </a:r>
          </a:p>
        </p:txBody>
      </p:sp>
      <p:sp>
        <p:nvSpPr>
          <p:cNvPr id="68" name="row-1-note-2">
            <a:extLst xmlns:a="http://schemas.openxmlformats.org/drawingml/2006/main">
              <a:ext uri="{FF2B5EF4-FFF2-40B4-BE49-F238E27FC236}">
                <a16:creationId xmlns:a16="http://schemas.microsoft.com/office/drawing/2014/main" id="{B5A96F4D-2E68-4BEF-9452-70363F68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4816736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before forcing a tenant to move.</a:t>
            </a:r>
          </a:p>
        </p:txBody>
      </p:sp>
      <p:sp>
        <p:nvSpPr>
          <p:cNvPr id="69" name="row-1-current-circle">
            <a:extLst xmlns:a="http://schemas.openxmlformats.org/drawingml/2006/main">
              <a:ext uri="{FF2B5EF4-FFF2-40B4-BE49-F238E27FC236}">
                <a16:creationId xmlns:a16="http://schemas.microsoft.com/office/drawing/2014/main" id="{65E0C225-D99B-4C9E-9EC8-7374884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448593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row-1-current-mark">
            <a:extLst xmlns:a="http://schemas.openxmlformats.org/drawingml/2006/main">
              <a:ext uri="{FF2B5EF4-FFF2-40B4-BE49-F238E27FC236}">
                <a16:creationId xmlns:a16="http://schemas.microsoft.com/office/drawing/2014/main" id="{159EA811-2EF1-46DD-9456-24C285C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451014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71" name="row-1-current-note">
            <a:extLst xmlns:a="http://schemas.openxmlformats.org/drawingml/2006/main">
              <a:ext uri="{FF2B5EF4-FFF2-40B4-BE49-F238E27FC236}">
                <a16:creationId xmlns:a16="http://schemas.microsoft.com/office/drawing/2014/main" id="{B529C10A-0170-4233-A635-C6A4C50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4748156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Not required</a:t>
            </a:r>
          </a:p>
        </p:txBody>
      </p:sp>
      <p:sp>
        <p:nvSpPr>
          <p:cNvPr id="72" name="row-1-pro-circle">
            <a:extLst xmlns:a="http://schemas.openxmlformats.org/drawingml/2006/main">
              <a:ext uri="{FF2B5EF4-FFF2-40B4-BE49-F238E27FC236}">
                <a16:creationId xmlns:a16="http://schemas.microsoft.com/office/drawing/2014/main" id="{037CE90D-9D20-40A6-9947-10B7240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448593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row-1-pro-mark">
            <a:extLst xmlns:a="http://schemas.openxmlformats.org/drawingml/2006/main">
              <a:ext uri="{FF2B5EF4-FFF2-40B4-BE49-F238E27FC236}">
                <a16:creationId xmlns:a16="http://schemas.microsoft.com/office/drawing/2014/main" id="{4264ECBE-C8BB-46BF-AC11-95E8C24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451014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row-1-pro-note">
            <a:extLst xmlns:a="http://schemas.openxmlformats.org/drawingml/2006/main">
              <a:ext uri="{FF2B5EF4-FFF2-40B4-BE49-F238E27FC236}">
                <a16:creationId xmlns:a16="http://schemas.microsoft.com/office/drawing/2014/main" id="{A5B7476B-A7EB-485E-9DCC-C24438D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4748156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Adds it</a:t>
            </a:r>
          </a:p>
        </p:txBody>
      </p:sp>
      <p:sp>
        <p:nvSpPr>
          <p:cNvPr id="75" name="row-1-fair-circle">
            <a:extLst xmlns:a="http://schemas.openxmlformats.org/drawingml/2006/main">
              <a:ext uri="{FF2B5EF4-FFF2-40B4-BE49-F238E27FC236}">
                <a16:creationId xmlns:a16="http://schemas.microsoft.com/office/drawing/2014/main" id="{0DB301DC-D0D2-4363-936E-86E3FF23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448593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row-1-fair-mark">
            <a:extLst xmlns:a="http://schemas.openxmlformats.org/drawingml/2006/main">
              <a:ext uri="{FF2B5EF4-FFF2-40B4-BE49-F238E27FC236}">
                <a16:creationId xmlns:a16="http://schemas.microsoft.com/office/drawing/2014/main" id="{52A3B9F0-40D7-42F8-944C-DFE5EA64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451014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77" name="row-1-fair-note">
            <a:extLst xmlns:a="http://schemas.openxmlformats.org/drawingml/2006/main">
              <a:ext uri="{FF2B5EF4-FFF2-40B4-BE49-F238E27FC236}">
                <a16:creationId xmlns:a16="http://schemas.microsoft.com/office/drawing/2014/main" id="{EB2A8FF7-5EFC-4716-B3FE-113A664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4748156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Leaves it out</a:t>
            </a:r>
          </a:p>
        </p:txBody>
      </p:sp>
      <p:sp>
        <p:nvSpPr>
          <p:cNvPr id="78" name="row-2-title-1">
            <a:extLst xmlns:a="http://schemas.openxmlformats.org/drawingml/2006/main">
              <a:ext uri="{FF2B5EF4-FFF2-40B4-BE49-F238E27FC236}">
                <a16:creationId xmlns:a16="http://schemas.microsoft.com/office/drawing/2014/main" id="{9CA48929-88F2-479F-9F94-92E0285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5236285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Clear eviction defenses when</a:t>
            </a:r>
          </a:p>
        </p:txBody>
      </p:sp>
      <p:sp>
        <p:nvSpPr>
          <p:cNvPr id="79" name="row-2-title-2">
            <a:extLst xmlns:a="http://schemas.openxmlformats.org/drawingml/2006/main">
              <a:ext uri="{FF2B5EF4-FFF2-40B4-BE49-F238E27FC236}">
                <a16:creationId xmlns:a16="http://schemas.microsoft.com/office/drawing/2014/main" id="{FEA66ACA-0C46-417F-AC1E-5AE46D2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5393615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a landlord violates the rules</a:t>
            </a:r>
          </a:p>
        </p:txBody>
      </p:sp>
      <p:sp>
        <p:nvSpPr>
          <p:cNvPr id="80" name="row-2-note-1">
            <a:extLst xmlns:a="http://schemas.openxmlformats.org/drawingml/2006/main">
              <a:ext uri="{FF2B5EF4-FFF2-40B4-BE49-F238E27FC236}">
                <a16:creationId xmlns:a16="http://schemas.microsoft.com/office/drawing/2014/main" id="{67F7EB51-7F19-4A98-92ED-BEDB603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5567082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Tenants can raise notice, cause, or</a:t>
            </a:r>
          </a:p>
        </p:txBody>
      </p:sp>
      <p:sp>
        <p:nvSpPr>
          <p:cNvPr id="81" name="row-2-note-2">
            <a:extLst xmlns:a="http://schemas.openxmlformats.org/drawingml/2006/main">
              <a:ext uri="{FF2B5EF4-FFF2-40B4-BE49-F238E27FC236}">
                <a16:creationId xmlns:a16="http://schemas.microsoft.com/office/drawing/2014/main" id="{8576B422-79BE-4C2C-AB09-D0BBC91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5696174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relocation violations in court.</a:t>
            </a:r>
          </a:p>
        </p:txBody>
      </p:sp>
      <p:sp>
        <p:nvSpPr>
          <p:cNvPr id="82" name="row-2-current-circle">
            <a:extLst xmlns:a="http://schemas.openxmlformats.org/drawingml/2006/main">
              <a:ext uri="{FF2B5EF4-FFF2-40B4-BE49-F238E27FC236}">
                <a16:creationId xmlns:a16="http://schemas.microsoft.com/office/drawing/2014/main" id="{9802C5E3-DD2F-41B8-A07E-9C09159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5365376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row-2-current-mark">
            <a:extLst xmlns:a="http://schemas.openxmlformats.org/drawingml/2006/main">
              <a:ext uri="{FF2B5EF4-FFF2-40B4-BE49-F238E27FC236}">
                <a16:creationId xmlns:a16="http://schemas.microsoft.com/office/drawing/2014/main" id="{2B51BB18-8076-47EA-840F-C9727A7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5389581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84" name="row-2-current-note">
            <a:extLst xmlns:a="http://schemas.openxmlformats.org/drawingml/2006/main">
              <a:ext uri="{FF2B5EF4-FFF2-40B4-BE49-F238E27FC236}">
                <a16:creationId xmlns:a16="http://schemas.microsoft.com/office/drawing/2014/main" id="{289AC20F-4E49-4931-97E1-DFF42ED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5627594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Limited / implied</a:t>
            </a:r>
          </a:p>
        </p:txBody>
      </p:sp>
      <p:sp>
        <p:nvSpPr>
          <p:cNvPr id="85" name="row-2-pro-circle">
            <a:extLst xmlns:a="http://schemas.openxmlformats.org/drawingml/2006/main">
              <a:ext uri="{FF2B5EF4-FFF2-40B4-BE49-F238E27FC236}">
                <a16:creationId xmlns:a16="http://schemas.microsoft.com/office/drawing/2014/main" id="{CDB374B2-9953-4244-9693-EC717E4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5365376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row-2-pro-mark">
            <a:extLst xmlns:a="http://schemas.openxmlformats.org/drawingml/2006/main">
              <a:ext uri="{FF2B5EF4-FFF2-40B4-BE49-F238E27FC236}">
                <a16:creationId xmlns:a16="http://schemas.microsoft.com/office/drawing/2014/main" id="{D148EC3E-F3A4-4E1D-80D5-CE142664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5389581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7" name="row-2-pro-note">
            <a:extLst xmlns:a="http://schemas.openxmlformats.org/drawingml/2006/main">
              <a:ext uri="{FF2B5EF4-FFF2-40B4-BE49-F238E27FC236}">
                <a16:creationId xmlns:a16="http://schemas.microsoft.com/office/drawing/2014/main" id="{C56004A4-5CCB-4103-B858-7C4422AD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5627594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Strongest</a:t>
            </a:r>
          </a:p>
        </p:txBody>
      </p:sp>
      <p:sp>
        <p:nvSpPr>
          <p:cNvPr id="88" name="row-2-fair-circle">
            <a:extLst xmlns:a="http://schemas.openxmlformats.org/drawingml/2006/main">
              <a:ext uri="{FF2B5EF4-FFF2-40B4-BE49-F238E27FC236}">
                <a16:creationId xmlns:a16="http://schemas.microsoft.com/office/drawing/2014/main" id="{11A53529-4A74-4B2C-91B3-44E580BA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5365376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row-2-fair-mark">
            <a:extLst xmlns:a="http://schemas.openxmlformats.org/drawingml/2006/main">
              <a:ext uri="{FF2B5EF4-FFF2-40B4-BE49-F238E27FC236}">
                <a16:creationId xmlns:a16="http://schemas.microsoft.com/office/drawing/2014/main" id="{34C5DF83-FCC2-4E8A-AFC1-E133711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5389581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90" name="row-2-fair-note">
            <a:extLst xmlns:a="http://schemas.openxmlformats.org/drawingml/2006/main">
              <a:ext uri="{FF2B5EF4-FFF2-40B4-BE49-F238E27FC236}">
                <a16:creationId xmlns:a16="http://schemas.microsoft.com/office/drawing/2014/main" id="{996189E5-E226-4C9F-8223-3A2795E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5627594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Removes existing defenses</a:t>
            </a:r>
          </a:p>
        </p:txBody>
      </p:sp>
      <p:sp>
        <p:nvSpPr>
          <p:cNvPr id="91" name="row-3-title-1">
            <a:extLst xmlns:a="http://schemas.openxmlformats.org/drawingml/2006/main">
              <a:ext uri="{FF2B5EF4-FFF2-40B4-BE49-F238E27FC236}">
                <a16:creationId xmlns:a16="http://schemas.microsoft.com/office/drawing/2014/main" id="{39799D13-73A4-495A-BD16-467CCA38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6115722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Relocation help for no-fault</a:t>
            </a:r>
          </a:p>
        </p:txBody>
      </p:sp>
      <p:sp>
        <p:nvSpPr>
          <p:cNvPr id="92" name="row-3-title-2">
            <a:extLst xmlns:a="http://schemas.openxmlformats.org/drawingml/2006/main">
              <a:ext uri="{FF2B5EF4-FFF2-40B4-BE49-F238E27FC236}">
                <a16:creationId xmlns:a16="http://schemas.microsoft.com/office/drawing/2014/main" id="{FA9863BC-587E-4D72-AC8E-186E78A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6273053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displacement</a:t>
            </a:r>
          </a:p>
        </p:txBody>
      </p:sp>
      <p:sp>
        <p:nvSpPr>
          <p:cNvPr id="93" name="row-3-note-1">
            <a:extLst xmlns:a="http://schemas.openxmlformats.org/drawingml/2006/main">
              <a:ext uri="{FF2B5EF4-FFF2-40B4-BE49-F238E27FC236}">
                <a16:creationId xmlns:a16="http://schemas.microsoft.com/office/drawing/2014/main" id="{E69BBB20-0CAD-4C58-9819-20B2B8B4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6446520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Requires moving assistance when a tenant</a:t>
            </a:r>
          </a:p>
        </p:txBody>
      </p:sp>
      <p:sp>
        <p:nvSpPr>
          <p:cNvPr id="94" name="row-3-note-2">
            <a:extLst xmlns:a="http://schemas.openxmlformats.org/drawingml/2006/main">
              <a:ext uri="{FF2B5EF4-FFF2-40B4-BE49-F238E27FC236}">
                <a16:creationId xmlns:a16="http://schemas.microsoft.com/office/drawing/2014/main" id="{BACC899E-D96A-4158-A115-EDDA2D1D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6575612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is forced to move from no fault of their own.</a:t>
            </a:r>
          </a:p>
        </p:txBody>
      </p:sp>
      <p:sp>
        <p:nvSpPr>
          <p:cNvPr id="95" name="row-3-current-circle">
            <a:extLst xmlns:a="http://schemas.openxmlformats.org/drawingml/2006/main">
              <a:ext uri="{FF2B5EF4-FFF2-40B4-BE49-F238E27FC236}">
                <a16:creationId xmlns:a16="http://schemas.microsoft.com/office/drawing/2014/main" id="{3962292E-20D0-42E4-B1FC-0BE04891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6244814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row-3-current-mark">
            <a:extLst xmlns:a="http://schemas.openxmlformats.org/drawingml/2006/main">
              <a:ext uri="{FF2B5EF4-FFF2-40B4-BE49-F238E27FC236}">
                <a16:creationId xmlns:a16="http://schemas.microsoft.com/office/drawing/2014/main" id="{37AA1B66-1633-42F6-8A47-4E26D76B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626901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97" name="row-3-current-note">
            <a:extLst xmlns:a="http://schemas.openxmlformats.org/drawingml/2006/main">
              <a:ext uri="{FF2B5EF4-FFF2-40B4-BE49-F238E27FC236}">
                <a16:creationId xmlns:a16="http://schemas.microsoft.com/office/drawing/2014/main" id="{211B82A5-5DDA-479C-A1BE-D4D8ACA2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650703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Not required</a:t>
            </a:r>
          </a:p>
        </p:txBody>
      </p:sp>
      <p:sp>
        <p:nvSpPr>
          <p:cNvPr id="98" name="row-3-pro-circle">
            <a:extLst xmlns:a="http://schemas.openxmlformats.org/drawingml/2006/main">
              <a:ext uri="{FF2B5EF4-FFF2-40B4-BE49-F238E27FC236}">
                <a16:creationId xmlns:a16="http://schemas.microsoft.com/office/drawing/2014/main" id="{69123B1A-D892-4DCA-96E9-44566FF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6244814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ow-3-pro-mark">
            <a:extLst xmlns:a="http://schemas.openxmlformats.org/drawingml/2006/main">
              <a:ext uri="{FF2B5EF4-FFF2-40B4-BE49-F238E27FC236}">
                <a16:creationId xmlns:a16="http://schemas.microsoft.com/office/drawing/2014/main" id="{EC6922C3-23FD-4C4B-BD2B-1F41292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626901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0" name="row-3-pro-note">
            <a:extLst xmlns:a="http://schemas.openxmlformats.org/drawingml/2006/main">
              <a:ext uri="{FF2B5EF4-FFF2-40B4-BE49-F238E27FC236}">
                <a16:creationId xmlns:a16="http://schemas.microsoft.com/office/drawing/2014/main" id="{8EF59EDE-9B23-4FA0-9D2E-CEB11E0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650703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Adds it</a:t>
            </a:r>
          </a:p>
        </p:txBody>
      </p:sp>
      <p:sp>
        <p:nvSpPr>
          <p:cNvPr id="101" name="row-3-fair-circle">
            <a:extLst xmlns:a="http://schemas.openxmlformats.org/drawingml/2006/main">
              <a:ext uri="{FF2B5EF4-FFF2-40B4-BE49-F238E27FC236}">
                <a16:creationId xmlns:a16="http://schemas.microsoft.com/office/drawing/2014/main" id="{7420755A-F65C-48B1-88EE-B8C3820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6244814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ow-3-fair-mark">
            <a:extLst xmlns:a="http://schemas.openxmlformats.org/drawingml/2006/main">
              <a:ext uri="{FF2B5EF4-FFF2-40B4-BE49-F238E27FC236}">
                <a16:creationId xmlns:a16="http://schemas.microsoft.com/office/drawing/2014/main" id="{338625C6-5EE4-4072-A953-68605C90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626901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03" name="row-3-fair-note">
            <a:extLst xmlns:a="http://schemas.openxmlformats.org/drawingml/2006/main">
              <a:ext uri="{FF2B5EF4-FFF2-40B4-BE49-F238E27FC236}">
                <a16:creationId xmlns:a16="http://schemas.microsoft.com/office/drawing/2014/main" id="{328F0F6B-7E37-4C36-8BEB-C737538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650703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Leaves it out</a:t>
            </a:r>
          </a:p>
        </p:txBody>
      </p:sp>
      <p:sp>
        <p:nvSpPr>
          <p:cNvPr id="104" name="row-4-title-1">
            <a:extLst xmlns:a="http://schemas.openxmlformats.org/drawingml/2006/main">
              <a:ext uri="{FF2B5EF4-FFF2-40B4-BE49-F238E27FC236}">
                <a16:creationId xmlns:a16="http://schemas.microsoft.com/office/drawing/2014/main" id="{3AB16B9C-9D8F-4252-8178-FD706C1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6995160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Tiered notice before rent increases</a:t>
            </a:r>
          </a:p>
        </p:txBody>
      </p:sp>
      <p:sp>
        <p:nvSpPr>
          <p:cNvPr id="105" name="row-4-note-1">
            <a:extLst xmlns:a="http://schemas.openxmlformats.org/drawingml/2006/main">
              <a:ext uri="{FF2B5EF4-FFF2-40B4-BE49-F238E27FC236}">
                <a16:creationId xmlns:a16="http://schemas.microsoft.com/office/drawing/2014/main" id="{A438CA48-9D2D-47E4-8A2D-2883F73C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7325958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Current law requires 30, 60, or 120 days</a:t>
            </a:r>
          </a:p>
        </p:txBody>
      </p:sp>
      <p:sp>
        <p:nvSpPr>
          <p:cNvPr id="106" name="row-4-note-2">
            <a:extLst xmlns:a="http://schemas.openxmlformats.org/drawingml/2006/main">
              <a:ext uri="{FF2B5EF4-FFF2-40B4-BE49-F238E27FC236}">
                <a16:creationId xmlns:a16="http://schemas.microsoft.com/office/drawing/2014/main" id="{113D7F70-3F41-478B-85E1-F15F0E68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7455049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depending on tenancy length.</a:t>
            </a:r>
          </a:p>
        </p:txBody>
      </p:sp>
      <p:sp>
        <p:nvSpPr>
          <p:cNvPr id="107" name="row-4-current-circle">
            <a:extLst xmlns:a="http://schemas.openxmlformats.org/drawingml/2006/main">
              <a:ext uri="{FF2B5EF4-FFF2-40B4-BE49-F238E27FC236}">
                <a16:creationId xmlns:a16="http://schemas.microsoft.com/office/drawing/2014/main" id="{B2ACDF82-D8F3-4196-B4A5-E342A7BA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712425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row-4-current-mark">
            <a:extLst xmlns:a="http://schemas.openxmlformats.org/drawingml/2006/main">
              <a:ext uri="{FF2B5EF4-FFF2-40B4-BE49-F238E27FC236}">
                <a16:creationId xmlns:a16="http://schemas.microsoft.com/office/drawing/2014/main" id="{A6B38152-69A5-4D91-B765-9F5E3F37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7148456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9" name="row-4-current-note">
            <a:extLst xmlns:a="http://schemas.openxmlformats.org/drawingml/2006/main">
              <a:ext uri="{FF2B5EF4-FFF2-40B4-BE49-F238E27FC236}">
                <a16:creationId xmlns:a16="http://schemas.microsoft.com/office/drawing/2014/main" id="{B7069536-2E3D-4475-B420-803ABA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7386469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30 / 60 / 120 days</a:t>
            </a:r>
          </a:p>
        </p:txBody>
      </p:sp>
      <p:sp>
        <p:nvSpPr>
          <p:cNvPr id="110" name="row-4-pro-circle">
            <a:extLst xmlns:a="http://schemas.openxmlformats.org/drawingml/2006/main">
              <a:ext uri="{FF2B5EF4-FFF2-40B4-BE49-F238E27FC236}">
                <a16:creationId xmlns:a16="http://schemas.microsoft.com/office/drawing/2014/main" id="{F64C9BFC-08AF-4F0C-815B-9C7DBEC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712425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row-4-pro-mark">
            <a:extLst xmlns:a="http://schemas.openxmlformats.org/drawingml/2006/main">
              <a:ext uri="{FF2B5EF4-FFF2-40B4-BE49-F238E27FC236}">
                <a16:creationId xmlns:a16="http://schemas.microsoft.com/office/drawing/2014/main" id="{6D7CF29F-E5C0-413E-A1B3-0FEC2DC6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7148456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2" name="row-4-pro-note">
            <a:extLst xmlns:a="http://schemas.openxmlformats.org/drawingml/2006/main">
              <a:ext uri="{FF2B5EF4-FFF2-40B4-BE49-F238E27FC236}">
                <a16:creationId xmlns:a16="http://schemas.microsoft.com/office/drawing/2014/main" id="{EE0D89AA-A840-4171-8F73-8A18ACE9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7386469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Strengthens to 120 days</a:t>
            </a:r>
          </a:p>
        </p:txBody>
      </p:sp>
      <p:sp>
        <p:nvSpPr>
          <p:cNvPr id="113" name="row-4-fair-circle">
            <a:extLst xmlns:a="http://schemas.openxmlformats.org/drawingml/2006/main">
              <a:ext uri="{FF2B5EF4-FFF2-40B4-BE49-F238E27FC236}">
                <a16:creationId xmlns:a16="http://schemas.microsoft.com/office/drawing/2014/main" id="{32B8BEEE-7DF8-45EB-B7E4-43D86BC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712425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row-4-fair-mark">
            <a:extLst xmlns:a="http://schemas.openxmlformats.org/drawingml/2006/main">
              <a:ext uri="{FF2B5EF4-FFF2-40B4-BE49-F238E27FC236}">
                <a16:creationId xmlns:a16="http://schemas.microsoft.com/office/drawing/2014/main" id="{B9ADF511-21D4-4E0F-9B10-FBCAD24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7148456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15" name="row-4-fair-note">
            <a:extLst xmlns:a="http://schemas.openxmlformats.org/drawingml/2006/main">
              <a:ext uri="{FF2B5EF4-FFF2-40B4-BE49-F238E27FC236}">
                <a16:creationId xmlns:a16="http://schemas.microsoft.com/office/drawing/2014/main" id="{AC42811B-DFA6-420E-AFC4-E4D83DA9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7386469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Restructures notice rules</a:t>
            </a:r>
          </a:p>
        </p:txBody>
      </p:sp>
      <p:sp>
        <p:nvSpPr>
          <p:cNvPr id="116" name="row-5-title-1">
            <a:extLst xmlns:a="http://schemas.openxmlformats.org/drawingml/2006/main">
              <a:ext uri="{FF2B5EF4-FFF2-40B4-BE49-F238E27FC236}">
                <a16:creationId xmlns:a16="http://schemas.microsoft.com/office/drawing/2014/main" id="{864B630A-73BE-4D75-B403-BFFB1AA2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7874598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A remedy when a landlord gives</a:t>
            </a:r>
          </a:p>
        </p:txBody>
      </p:sp>
      <p:sp>
        <p:nvSpPr>
          <p:cNvPr id="117" name="row-5-title-2">
            <a:extLst xmlns:a="http://schemas.openxmlformats.org/drawingml/2006/main">
              <a:ext uri="{FF2B5EF4-FFF2-40B4-BE49-F238E27FC236}">
                <a16:creationId xmlns:a16="http://schemas.microsoft.com/office/drawing/2014/main" id="{59072E76-EAAB-46B5-A8B3-DC63F2CF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8031928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a late non-renewal notice</a:t>
            </a:r>
          </a:p>
        </p:txBody>
      </p:sp>
      <p:sp>
        <p:nvSpPr>
          <p:cNvPr id="118" name="row-5-note-1">
            <a:extLst xmlns:a="http://schemas.openxmlformats.org/drawingml/2006/main">
              <a:ext uri="{FF2B5EF4-FFF2-40B4-BE49-F238E27FC236}">
                <a16:creationId xmlns:a16="http://schemas.microsoft.com/office/drawing/2014/main" id="{175454D1-20BD-4B77-BA6A-6836066F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8205395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Notice protects a renter only when</a:t>
            </a:r>
          </a:p>
        </p:txBody>
      </p:sp>
      <p:sp>
        <p:nvSpPr>
          <p:cNvPr id="119" name="row-5-note-2">
            <a:extLst xmlns:a="http://schemas.openxmlformats.org/drawingml/2006/main">
              <a:ext uri="{FF2B5EF4-FFF2-40B4-BE49-F238E27FC236}">
                <a16:creationId xmlns:a16="http://schemas.microsoft.com/office/drawing/2014/main" id="{7EF4659A-7E0E-4136-B2C5-1766705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8334487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ignoring it has a consequence.</a:t>
            </a:r>
          </a:p>
        </p:txBody>
      </p:sp>
      <p:sp>
        <p:nvSpPr>
          <p:cNvPr id="120" name="row-5-current-circle">
            <a:extLst xmlns:a="http://schemas.openxmlformats.org/drawingml/2006/main">
              <a:ext uri="{FF2B5EF4-FFF2-40B4-BE49-F238E27FC236}">
                <a16:creationId xmlns:a16="http://schemas.microsoft.com/office/drawing/2014/main" id="{2AA45912-40CE-4EC8-AF76-5B48312F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800368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row-5-current-mark">
            <a:extLst xmlns:a="http://schemas.openxmlformats.org/drawingml/2006/main">
              <a:ext uri="{FF2B5EF4-FFF2-40B4-BE49-F238E27FC236}">
                <a16:creationId xmlns:a16="http://schemas.microsoft.com/office/drawing/2014/main" id="{D885C60C-5B37-4F59-B1C6-90B93606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802789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2" name="row-5-current-note">
            <a:extLst xmlns:a="http://schemas.openxmlformats.org/drawingml/2006/main">
              <a:ext uri="{FF2B5EF4-FFF2-40B4-BE49-F238E27FC236}">
                <a16:creationId xmlns:a16="http://schemas.microsoft.com/office/drawing/2014/main" id="{8D643469-2189-4F0A-81FA-4D4ED74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8265907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Tenant may stay through notice period</a:t>
            </a:r>
          </a:p>
        </p:txBody>
      </p:sp>
      <p:sp>
        <p:nvSpPr>
          <p:cNvPr id="123" name="row-5-pro-circle">
            <a:extLst xmlns:a="http://schemas.openxmlformats.org/drawingml/2006/main">
              <a:ext uri="{FF2B5EF4-FFF2-40B4-BE49-F238E27FC236}">
                <a16:creationId xmlns:a16="http://schemas.microsoft.com/office/drawing/2014/main" id="{374444CA-EDE8-4862-A431-516155F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800368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row-5-pro-mark">
            <a:extLst xmlns:a="http://schemas.openxmlformats.org/drawingml/2006/main">
              <a:ext uri="{FF2B5EF4-FFF2-40B4-BE49-F238E27FC236}">
                <a16:creationId xmlns:a16="http://schemas.microsoft.com/office/drawing/2014/main" id="{F157454E-AB34-4DA1-8A8F-256D35D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802789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5" name="row-5-pro-note">
            <a:extLst xmlns:a="http://schemas.openxmlformats.org/drawingml/2006/main">
              <a:ext uri="{FF2B5EF4-FFF2-40B4-BE49-F238E27FC236}">
                <a16:creationId xmlns:a16="http://schemas.microsoft.com/office/drawing/2014/main" id="{7FD1713C-389D-4DD1-9C9A-B5CB884A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8265907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Keeps protections</a:t>
            </a:r>
          </a:p>
        </p:txBody>
      </p:sp>
      <p:sp>
        <p:nvSpPr>
          <p:cNvPr id="126" name="row-5-fair-circle">
            <a:extLst xmlns:a="http://schemas.openxmlformats.org/drawingml/2006/main">
              <a:ext uri="{FF2B5EF4-FFF2-40B4-BE49-F238E27FC236}">
                <a16:creationId xmlns:a16="http://schemas.microsoft.com/office/drawing/2014/main" id="{83A9C82E-E9D6-4495-8953-B9018DE5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8003689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row-5-fair-mark">
            <a:extLst xmlns:a="http://schemas.openxmlformats.org/drawingml/2006/main">
              <a:ext uri="{FF2B5EF4-FFF2-40B4-BE49-F238E27FC236}">
                <a16:creationId xmlns:a16="http://schemas.microsoft.com/office/drawing/2014/main" id="{9A191E48-53D8-4339-A155-D355A244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8027894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28" name="row-5-fair-note">
            <a:extLst xmlns:a="http://schemas.openxmlformats.org/drawingml/2006/main">
              <a:ext uri="{FF2B5EF4-FFF2-40B4-BE49-F238E27FC236}">
                <a16:creationId xmlns:a16="http://schemas.microsoft.com/office/drawing/2014/main" id="{E3667AB2-BF1F-4594-B4C9-9F201F0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8265907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Removes the practical remedy</a:t>
            </a:r>
          </a:p>
        </p:txBody>
      </p:sp>
      <p:sp>
        <p:nvSpPr>
          <p:cNvPr id="129" name="row-6-title-1">
            <a:extLst xmlns:a="http://schemas.openxmlformats.org/drawingml/2006/main">
              <a:ext uri="{FF2B5EF4-FFF2-40B4-BE49-F238E27FC236}">
                <a16:creationId xmlns:a16="http://schemas.microsoft.com/office/drawing/2014/main" id="{55F0694B-14BD-4B59-AD19-33CC310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8754035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Security deposit and junk-fee limits</a:t>
            </a:r>
          </a:p>
        </p:txBody>
      </p:sp>
      <p:sp>
        <p:nvSpPr>
          <p:cNvPr id="130" name="row-6-note-1">
            <a:extLst xmlns:a="http://schemas.openxmlformats.org/drawingml/2006/main">
              <a:ext uri="{FF2B5EF4-FFF2-40B4-BE49-F238E27FC236}">
                <a16:creationId xmlns:a16="http://schemas.microsoft.com/office/drawing/2014/main" id="{482B288B-A707-4B7D-89DE-48D13453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9084833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Caps and transparency for upfront costs.</a:t>
            </a:r>
          </a:p>
        </p:txBody>
      </p:sp>
      <p:sp>
        <p:nvSpPr>
          <p:cNvPr id="131" name="row-6-current-circle">
            <a:extLst xmlns:a="http://schemas.openxmlformats.org/drawingml/2006/main">
              <a:ext uri="{FF2B5EF4-FFF2-40B4-BE49-F238E27FC236}">
                <a16:creationId xmlns:a16="http://schemas.microsoft.com/office/drawing/2014/main" id="{423B59DE-6601-4961-B76F-23AE700A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8883127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row-6-current-mark">
            <a:extLst xmlns:a="http://schemas.openxmlformats.org/drawingml/2006/main">
              <a:ext uri="{FF2B5EF4-FFF2-40B4-BE49-F238E27FC236}">
                <a16:creationId xmlns:a16="http://schemas.microsoft.com/office/drawing/2014/main" id="{0A2C90F0-F75A-4EC6-B624-31DC5772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8907332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33" name="row-6-current-note">
            <a:extLst xmlns:a="http://schemas.openxmlformats.org/drawingml/2006/main">
              <a:ext uri="{FF2B5EF4-FFF2-40B4-BE49-F238E27FC236}">
                <a16:creationId xmlns:a16="http://schemas.microsoft.com/office/drawing/2014/main" id="{D1AAD847-1A7D-46D2-AE0C-A8870B7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9145345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Some protections</a:t>
            </a:r>
          </a:p>
        </p:txBody>
      </p:sp>
      <p:sp>
        <p:nvSpPr>
          <p:cNvPr id="134" name="row-6-pro-circle">
            <a:extLst xmlns:a="http://schemas.openxmlformats.org/drawingml/2006/main">
              <a:ext uri="{FF2B5EF4-FFF2-40B4-BE49-F238E27FC236}">
                <a16:creationId xmlns:a16="http://schemas.microsoft.com/office/drawing/2014/main" id="{F03B6D46-EEEC-44EA-B5A0-56BA35EC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8883127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row-6-pro-mark">
            <a:extLst xmlns:a="http://schemas.openxmlformats.org/drawingml/2006/main">
              <a:ext uri="{FF2B5EF4-FFF2-40B4-BE49-F238E27FC236}">
                <a16:creationId xmlns:a16="http://schemas.microsoft.com/office/drawing/2014/main" id="{A6B6A1E6-DBDF-410A-B639-9BD24F5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8907332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6" name="row-6-pro-note">
            <a:extLst xmlns:a="http://schemas.openxmlformats.org/drawingml/2006/main">
              <a:ext uri="{FF2B5EF4-FFF2-40B4-BE49-F238E27FC236}">
                <a16:creationId xmlns:a16="http://schemas.microsoft.com/office/drawing/2014/main" id="{DAC14BED-58DB-4588-86BD-BBB04B2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9145345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Stronger</a:t>
            </a:r>
          </a:p>
        </p:txBody>
      </p:sp>
      <p:sp>
        <p:nvSpPr>
          <p:cNvPr id="137" name="row-6-fair-circle">
            <a:extLst xmlns:a="http://schemas.openxmlformats.org/drawingml/2006/main">
              <a:ext uri="{FF2B5EF4-FFF2-40B4-BE49-F238E27FC236}">
                <a16:creationId xmlns:a16="http://schemas.microsoft.com/office/drawing/2014/main" id="{5095F5E5-64CA-4522-825A-05BDBCF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8883127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row-6-fair-mark">
            <a:extLst xmlns:a="http://schemas.openxmlformats.org/drawingml/2006/main">
              <a:ext uri="{FF2B5EF4-FFF2-40B4-BE49-F238E27FC236}">
                <a16:creationId xmlns:a16="http://schemas.microsoft.com/office/drawing/2014/main" id="{435EE2BC-D621-4CA7-BA46-115415AF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8907332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39" name="row-6-fair-note">
            <a:extLst xmlns:a="http://schemas.openxmlformats.org/drawingml/2006/main">
              <a:ext uri="{FF2B5EF4-FFF2-40B4-BE49-F238E27FC236}">
                <a16:creationId xmlns:a16="http://schemas.microsoft.com/office/drawing/2014/main" id="{1181077E-B54F-421F-8AEA-B4D35AED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9145345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Partial</a:t>
            </a:r>
          </a:p>
        </p:txBody>
      </p:sp>
      <p:sp>
        <p:nvSpPr>
          <p:cNvPr id="140" name="row-7-title-1">
            <a:extLst xmlns:a="http://schemas.openxmlformats.org/drawingml/2006/main">
              <a:ext uri="{FF2B5EF4-FFF2-40B4-BE49-F238E27FC236}">
                <a16:creationId xmlns:a16="http://schemas.microsoft.com/office/drawing/2014/main" id="{6734488E-2C6A-4E34-95E9-4C2C7AA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9633473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Citywide rental registry and</a:t>
            </a:r>
          </a:p>
        </p:txBody>
      </p:sp>
      <p:sp>
        <p:nvSpPr>
          <p:cNvPr id="141" name="row-7-title-2">
            <a:extLst xmlns:a="http://schemas.openxmlformats.org/drawingml/2006/main">
              <a:ext uri="{FF2B5EF4-FFF2-40B4-BE49-F238E27FC236}">
                <a16:creationId xmlns:a16="http://schemas.microsoft.com/office/drawing/2014/main" id="{9283F7DC-D1D0-42BD-B240-C0F433F8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9790804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public enforcement</a:t>
            </a:r>
          </a:p>
        </p:txBody>
      </p:sp>
      <p:sp>
        <p:nvSpPr>
          <p:cNvPr id="142" name="row-7-note-1">
            <a:extLst xmlns:a="http://schemas.openxmlformats.org/drawingml/2006/main">
              <a:ext uri="{FF2B5EF4-FFF2-40B4-BE49-F238E27FC236}">
                <a16:creationId xmlns:a16="http://schemas.microsoft.com/office/drawing/2014/main" id="{BA6A3E70-0DD5-42C7-8F5D-7ADAA71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9964271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A way to track rental units and</a:t>
            </a:r>
          </a:p>
        </p:txBody>
      </p:sp>
      <p:sp>
        <p:nvSpPr>
          <p:cNvPr id="143" name="row-7-note-2">
            <a:extLst xmlns:a="http://schemas.openxmlformats.org/drawingml/2006/main">
              <a:ext uri="{FF2B5EF4-FFF2-40B4-BE49-F238E27FC236}">
                <a16:creationId xmlns:a16="http://schemas.microsoft.com/office/drawing/2014/main" id="{B5AB6128-5CE7-4B84-AFB6-0624F0B1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10093362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repeat violations.</a:t>
            </a:r>
          </a:p>
        </p:txBody>
      </p:sp>
      <p:sp>
        <p:nvSpPr>
          <p:cNvPr id="144" name="row-7-current-circle">
            <a:extLst xmlns:a="http://schemas.openxmlformats.org/drawingml/2006/main">
              <a:ext uri="{FF2B5EF4-FFF2-40B4-BE49-F238E27FC236}">
                <a16:creationId xmlns:a16="http://schemas.microsoft.com/office/drawing/2014/main" id="{8BAE79F1-3197-4F24-9269-13BFD552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9762565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row-7-current-mark">
            <a:extLst xmlns:a="http://schemas.openxmlformats.org/drawingml/2006/main">
              <a:ext uri="{FF2B5EF4-FFF2-40B4-BE49-F238E27FC236}">
                <a16:creationId xmlns:a16="http://schemas.microsoft.com/office/drawing/2014/main" id="{EFEA7BD1-E35B-4D3D-A2B1-9376F02A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978676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46" name="row-7-current-note">
            <a:extLst xmlns:a="http://schemas.openxmlformats.org/drawingml/2006/main">
              <a:ext uri="{FF2B5EF4-FFF2-40B4-BE49-F238E27FC236}">
                <a16:creationId xmlns:a16="http://schemas.microsoft.com/office/drawing/2014/main" id="{1B2A9F4E-CE46-4DC8-ACC8-1CE5EC8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1002478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No registry</a:t>
            </a:r>
          </a:p>
        </p:txBody>
      </p:sp>
      <p:sp>
        <p:nvSpPr>
          <p:cNvPr id="147" name="row-7-pro-circle">
            <a:extLst xmlns:a="http://schemas.openxmlformats.org/drawingml/2006/main">
              <a:ext uri="{FF2B5EF4-FFF2-40B4-BE49-F238E27FC236}">
                <a16:creationId xmlns:a16="http://schemas.microsoft.com/office/drawing/2014/main" id="{9B6AA35F-17FA-4C8C-81A0-0AC6872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9762565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row-7-pro-mark">
            <a:extLst xmlns:a="http://schemas.openxmlformats.org/drawingml/2006/main">
              <a:ext uri="{FF2B5EF4-FFF2-40B4-BE49-F238E27FC236}">
                <a16:creationId xmlns:a16="http://schemas.microsoft.com/office/drawing/2014/main" id="{F98CA30F-C293-4587-A109-645E295C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978676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9" name="row-7-pro-note">
            <a:extLst xmlns:a="http://schemas.openxmlformats.org/drawingml/2006/main">
              <a:ext uri="{FF2B5EF4-FFF2-40B4-BE49-F238E27FC236}">
                <a16:creationId xmlns:a16="http://schemas.microsoft.com/office/drawing/2014/main" id="{1F1598CA-C1F4-4A40-9A82-FC1FFC68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1002478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Adds tools</a:t>
            </a:r>
          </a:p>
        </p:txBody>
      </p:sp>
      <p:sp>
        <p:nvSpPr>
          <p:cNvPr id="150" name="row-7-fair-circle">
            <a:extLst xmlns:a="http://schemas.openxmlformats.org/drawingml/2006/main">
              <a:ext uri="{FF2B5EF4-FFF2-40B4-BE49-F238E27FC236}">
                <a16:creationId xmlns:a16="http://schemas.microsoft.com/office/drawing/2014/main" id="{F382F0F3-0E9A-4FA0-873C-15030567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9762565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row-7-fair-mark">
            <a:extLst xmlns:a="http://schemas.openxmlformats.org/drawingml/2006/main">
              <a:ext uri="{FF2B5EF4-FFF2-40B4-BE49-F238E27FC236}">
                <a16:creationId xmlns:a16="http://schemas.microsoft.com/office/drawing/2014/main" id="{27C6A364-B69F-44D0-B405-B5FE1B6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9786769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52" name="row-7-fair-note">
            <a:extLst xmlns:a="http://schemas.openxmlformats.org/drawingml/2006/main">
              <a:ext uri="{FF2B5EF4-FFF2-40B4-BE49-F238E27FC236}">
                <a16:creationId xmlns:a16="http://schemas.microsoft.com/office/drawing/2014/main" id="{E5ABC4C1-6604-47D0-8887-31A748D8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10024782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More limited</a:t>
            </a:r>
          </a:p>
        </p:txBody>
      </p:sp>
      <p:sp>
        <p:nvSpPr>
          <p:cNvPr id="153" name="row-8-title-1">
            <a:extLst xmlns:a="http://schemas.openxmlformats.org/drawingml/2006/main">
              <a:ext uri="{FF2B5EF4-FFF2-40B4-BE49-F238E27FC236}">
                <a16:creationId xmlns:a16="http://schemas.microsoft.com/office/drawing/2014/main" id="{01C487C1-8E37-4513-B98B-A0D19D4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10512911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Funding and staff to enforce</a:t>
            </a:r>
          </a:p>
        </p:txBody>
      </p:sp>
      <p:sp>
        <p:nvSpPr>
          <p:cNvPr id="154" name="row-8-title-2">
            <a:extLst xmlns:a="http://schemas.openxmlformats.org/drawingml/2006/main">
              <a:ext uri="{FF2B5EF4-FFF2-40B4-BE49-F238E27FC236}">
                <a16:creationId xmlns:a16="http://schemas.microsoft.com/office/drawing/2014/main" id="{9D7DA489-3663-496E-8433-C1F81297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10670241"/>
            <a:ext cx="3307976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the rules</a:t>
            </a:r>
          </a:p>
        </p:txBody>
      </p:sp>
      <p:sp>
        <p:nvSpPr>
          <p:cNvPr id="155" name="row-8-note-1">
            <a:extLst xmlns:a="http://schemas.openxmlformats.org/drawingml/2006/main">
              <a:ext uri="{FF2B5EF4-FFF2-40B4-BE49-F238E27FC236}">
                <a16:creationId xmlns:a16="http://schemas.microsoft.com/office/drawing/2014/main" id="{D769D243-EF82-4E79-AB0D-88B8860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10843708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An ordinance needs people and</a:t>
            </a:r>
          </a:p>
        </p:txBody>
      </p:sp>
      <p:sp>
        <p:nvSpPr>
          <p:cNvPr id="156" name="row-8-note-2">
            <a:extLst xmlns:a="http://schemas.openxmlformats.org/drawingml/2006/main">
              <a:ext uri="{FF2B5EF4-FFF2-40B4-BE49-F238E27FC236}">
                <a16:creationId xmlns:a16="http://schemas.microsoft.com/office/drawing/2014/main" id="{FAC5088E-CC2A-4030-96EB-CA7F67E2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4" y="10972800"/>
            <a:ext cx="3307976" cy="12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58" b="1">
                <a:solidFill>
                  <a:srgbClr val="637184"/>
                </a:solidFill>
              </a:defRPr>
            </a:pPr>
            <a:r>
              <a:rPr sz="858" b="1">
                <a:solidFill>
                  <a:srgbClr val="637184"/>
                </a:solidFill>
              </a:rPr>
              <a:t>resources to work in real life.</a:t>
            </a:r>
          </a:p>
        </p:txBody>
      </p:sp>
      <p:sp>
        <p:nvSpPr>
          <p:cNvPr id="157" name="row-8-current-circle">
            <a:extLst xmlns:a="http://schemas.openxmlformats.org/drawingml/2006/main">
              <a:ext uri="{FF2B5EF4-FFF2-40B4-BE49-F238E27FC236}">
                <a16:creationId xmlns:a16="http://schemas.microsoft.com/office/drawing/2014/main" id="{B9E75822-E71E-499E-8565-341B97B2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1064200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row-8-current-mark">
            <a:extLst xmlns:a="http://schemas.openxmlformats.org/drawingml/2006/main">
              <a:ext uri="{FF2B5EF4-FFF2-40B4-BE49-F238E27FC236}">
                <a16:creationId xmlns:a16="http://schemas.microsoft.com/office/drawing/2014/main" id="{310A242D-C768-4AC2-AF26-E19466A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46" y="10666207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0A1F33"/>
                </a:solidFill>
              </a:defRPr>
            </a:pPr>
            <a:r>
              <a:rPr sz="1144" b="1">
                <a:solidFill>
                  <a:srgbClr val="0A1F33"/>
                </a:solidFill>
              </a:rPr>
              <a:t>~</a:t>
            </a:r>
          </a:p>
        </p:txBody>
      </p:sp>
      <p:sp>
        <p:nvSpPr>
          <p:cNvPr id="159" name="row-8-current-note">
            <a:extLst xmlns:a="http://schemas.openxmlformats.org/drawingml/2006/main">
              <a:ext uri="{FF2B5EF4-FFF2-40B4-BE49-F238E27FC236}">
                <a16:creationId xmlns:a16="http://schemas.microsoft.com/office/drawing/2014/main" id="{C7286514-9CA3-465E-9726-E8812145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698" y="10904220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Existing capacity only</a:t>
            </a:r>
          </a:p>
        </p:txBody>
      </p:sp>
      <p:sp>
        <p:nvSpPr>
          <p:cNvPr id="160" name="row-8-pro-circle">
            <a:extLst xmlns:a="http://schemas.openxmlformats.org/drawingml/2006/main">
              <a:ext uri="{FF2B5EF4-FFF2-40B4-BE49-F238E27FC236}">
                <a16:creationId xmlns:a16="http://schemas.microsoft.com/office/drawing/2014/main" id="{76C21AD9-382D-43F4-B60E-04C29CFE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1064200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row-8-pro-mark">
            <a:extLst xmlns:a="http://schemas.openxmlformats.org/drawingml/2006/main">
              <a:ext uri="{FF2B5EF4-FFF2-40B4-BE49-F238E27FC236}">
                <a16:creationId xmlns:a16="http://schemas.microsoft.com/office/drawing/2014/main" id="{AD41C292-6E89-4F78-A864-0DA8F76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36" y="10666207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2" name="row-8-pro-note">
            <a:extLst xmlns:a="http://schemas.openxmlformats.org/drawingml/2006/main">
              <a:ext uri="{FF2B5EF4-FFF2-40B4-BE49-F238E27FC236}">
                <a16:creationId xmlns:a16="http://schemas.microsoft.com/office/drawing/2014/main" id="{B195FBE9-243A-4520-9A21-25ADA1B4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88" y="10904220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16775B"/>
                </a:solidFill>
              </a:defRPr>
            </a:pPr>
            <a:r>
              <a:rPr sz="794" b="1">
                <a:solidFill>
                  <a:srgbClr val="16775B"/>
                </a:solidFill>
              </a:rPr>
              <a:t>Registry fees fund enforcement</a:t>
            </a:r>
          </a:p>
        </p:txBody>
      </p:sp>
      <p:sp>
        <p:nvSpPr>
          <p:cNvPr id="163" name="row-8-fair-circle">
            <a:extLst xmlns:a="http://schemas.openxmlformats.org/drawingml/2006/main">
              <a:ext uri="{FF2B5EF4-FFF2-40B4-BE49-F238E27FC236}">
                <a16:creationId xmlns:a16="http://schemas.microsoft.com/office/drawing/2014/main" id="{ED046A3B-4040-4ACB-86E6-721EBDC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10642002"/>
            <a:ext cx="250115" cy="2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row-8-fair-mark">
            <a:extLst xmlns:a="http://schemas.openxmlformats.org/drawingml/2006/main">
              <a:ext uri="{FF2B5EF4-FFF2-40B4-BE49-F238E27FC236}">
                <a16:creationId xmlns:a16="http://schemas.microsoft.com/office/drawing/2014/main" id="{A9657853-2B6E-4BAB-ADB3-099BF77E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86" y="10666207"/>
            <a:ext cx="250115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44" b="1">
                <a:solidFill>
                  <a:srgbClr val="FFFFFF"/>
                </a:solidFill>
              </a:defRPr>
            </a:pPr>
            <a:r>
              <a:rPr sz="1144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65" name="row-8-fair-note">
            <a:extLst xmlns:a="http://schemas.openxmlformats.org/drawingml/2006/main">
              <a:ext uri="{FF2B5EF4-FFF2-40B4-BE49-F238E27FC236}">
                <a16:creationId xmlns:a16="http://schemas.microsoft.com/office/drawing/2014/main" id="{002FA415-41DF-4B03-BD5F-FF8FDB1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38" y="10904220"/>
            <a:ext cx="1775012" cy="141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No dedicated funding</a:t>
            </a:r>
          </a:p>
        </p:txBody>
      </p:sp>
      <p:sp>
        <p:nvSpPr>
          <p:cNvPr id="16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2A74ED0C-7ABE-4B3A-84E8-8DC57DD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11759453"/>
            <a:ext cx="6131859" cy="1169894"/>
          </a:xfrm>
          <a:prstGeom xmlns:a="http://schemas.openxmlformats.org/drawingml/2006/main" prst="roundRect">
            <a:avLst>
              <a:gd name="adj" fmla="val 13027"/>
            </a:avLst>
          </a:prstGeom>
          <a:solidFill xmlns:a="http://schemas.openxmlformats.org/drawingml/2006/main">
            <a:srgbClr val="D7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BB129D01-FD6B-4837-B5FF-03C7258F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06" y="11900647"/>
            <a:ext cx="3630706" cy="266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15" b="1">
                <a:solidFill>
                  <a:srgbClr val="FFFFFF"/>
                </a:solidFill>
              </a:defRPr>
            </a:pPr>
            <a:r>
              <a:rPr sz="1715" b="1">
                <a:solidFill>
                  <a:srgbClr val="FFFFFF"/>
                </a:solidFill>
              </a:rPr>
              <a:t>TAKE ACTION</a:t>
            </a:r>
          </a:p>
        </p:txBody>
      </p:sp>
      <p:sp>
        <p:nvSpPr>
          <p:cNvPr id="168" name="action-line-1">
            <a:extLst xmlns:a="http://schemas.openxmlformats.org/drawingml/2006/main">
              <a:ext uri="{FF2B5EF4-FFF2-40B4-BE49-F238E27FC236}">
                <a16:creationId xmlns:a16="http://schemas.microsoft.com/office/drawing/2014/main" id="{7DACEB86-ECDF-4611-AA08-4D877771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06" y="12183035"/>
            <a:ext cx="5567082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12" b="1">
                <a:solidFill>
                  <a:srgbClr val="FFFFFF"/>
                </a:solidFill>
              </a:defRPr>
            </a:pPr>
            <a:r>
              <a:rPr sz="1112" b="1">
                <a:solidFill>
                  <a:srgbClr val="FFFFFF"/>
                </a:solidFill>
              </a:rPr>
              <a:t>Ask your alderperson to reject the Fair Ordinance</a:t>
            </a:r>
          </a:p>
        </p:txBody>
      </p:sp>
      <p:sp>
        <p:nvSpPr>
          <p:cNvPr id="169" name="action-line-2">
            <a:extLst xmlns:a="http://schemas.openxmlformats.org/drawingml/2006/main">
              <a:ext uri="{FF2B5EF4-FFF2-40B4-BE49-F238E27FC236}">
                <a16:creationId xmlns:a16="http://schemas.microsoft.com/office/drawing/2014/main" id="{D5ADA29E-0ACD-4EF2-BDC8-BBA7349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06" y="12384741"/>
            <a:ext cx="4840941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12" b="1">
                <a:solidFill>
                  <a:srgbClr val="FFFFFF"/>
                </a:solidFill>
              </a:defRPr>
            </a:pPr>
            <a:r>
              <a:rPr sz="1112" b="1">
                <a:solidFill>
                  <a:srgbClr val="FFFFFF"/>
                </a:solidFill>
              </a:rPr>
              <a:t>and support stronger renter protections.</a:t>
            </a:r>
          </a:p>
        </p:txBody>
      </p:sp>
      <p:sp>
        <p:nvSpPr>
          <p:cNvPr id="170" name="action-line-3">
            <a:extLst xmlns:a="http://schemas.openxmlformats.org/drawingml/2006/main">
              <a:ext uri="{FF2B5EF4-FFF2-40B4-BE49-F238E27FC236}">
                <a16:creationId xmlns:a16="http://schemas.microsoft.com/office/drawing/2014/main" id="{527C3FCC-7E2B-4525-9FF9-9D468B11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06" y="12634856"/>
            <a:ext cx="3227294" cy="18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75" b="1">
                <a:solidFill>
                  <a:srgbClr val="F4C95D"/>
                </a:solidFill>
              </a:defRPr>
            </a:pPr>
            <a:r>
              <a:rPr sz="1175" b="1">
                <a:solidFill>
                  <a:srgbClr val="F4C95D"/>
                </a:solidFill>
              </a:rPr>
              <a:t>EMAIL. CALL. SHARE.</a:t>
            </a:r>
          </a:p>
        </p:txBody>
      </p:sp>
      <p:sp>
        <p:nvSpPr>
          <p:cNvPr id="171" name="qr-box">
            <a:extLst xmlns:a="http://schemas.openxmlformats.org/drawingml/2006/main">
              <a:ext uri="{FF2B5EF4-FFF2-40B4-BE49-F238E27FC236}">
                <a16:creationId xmlns:a16="http://schemas.microsoft.com/office/drawing/2014/main" id="{DB92159F-7B89-44EA-A96C-4A10B5F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412" y="11751385"/>
            <a:ext cx="1290918" cy="1290918"/>
          </a:xfrm>
          <a:prstGeom xmlns:a="http://schemas.openxmlformats.org/drawingml/2006/main" prst="roundRect">
            <a:avLst>
              <a:gd name="adj" fmla="val 11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239">
            <a:solidFill>
              <a:srgbClr val="0A1F33"/>
            </a:solidFill>
            <a:prstDash val="solid"/>
          </a:ln>
        </p:spPr>
      </p:sp>
      <p:sp>
        <p:nvSpPr>
          <p:cNvPr id="172" name="qr-corner-1">
            <a:extLst xmlns:a="http://schemas.openxmlformats.org/drawingml/2006/main">
              <a:ext uri="{FF2B5EF4-FFF2-40B4-BE49-F238E27FC236}">
                <a16:creationId xmlns:a16="http://schemas.microsoft.com/office/drawing/2014/main" id="{0FBC28D3-8ED1-42C4-AC6E-C65E794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606" y="11896613"/>
            <a:ext cx="282388" cy="4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qr-corner-2">
            <a:extLst xmlns:a="http://schemas.openxmlformats.org/drawingml/2006/main">
              <a:ext uri="{FF2B5EF4-FFF2-40B4-BE49-F238E27FC236}">
                <a16:creationId xmlns:a16="http://schemas.microsoft.com/office/drawing/2014/main" id="{A99F6C70-0E11-46D8-AA93-1BA56A0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606" y="11896613"/>
            <a:ext cx="44375" cy="28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qr-corner-3">
            <a:extLst xmlns:a="http://schemas.openxmlformats.org/drawingml/2006/main">
              <a:ext uri="{FF2B5EF4-FFF2-40B4-BE49-F238E27FC236}">
                <a16:creationId xmlns:a16="http://schemas.microsoft.com/office/drawing/2014/main" id="{67195B49-4B22-40AF-87A7-0FC0848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747" y="11896613"/>
            <a:ext cx="282388" cy="4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qr-corner-4">
            <a:extLst xmlns:a="http://schemas.openxmlformats.org/drawingml/2006/main">
              <a:ext uri="{FF2B5EF4-FFF2-40B4-BE49-F238E27FC236}">
                <a16:creationId xmlns:a16="http://schemas.microsoft.com/office/drawing/2014/main" id="{DDF86715-667B-4ADE-A1ED-55744A9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1896613"/>
            <a:ext cx="44375" cy="28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qr-corner-5">
            <a:extLst xmlns:a="http://schemas.openxmlformats.org/drawingml/2006/main">
              <a:ext uri="{FF2B5EF4-FFF2-40B4-BE49-F238E27FC236}">
                <a16:creationId xmlns:a16="http://schemas.microsoft.com/office/drawing/2014/main" id="{9EA88509-93BC-4C34-AC1E-0CB7000D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606" y="12852699"/>
            <a:ext cx="282388" cy="4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qr-corner-6">
            <a:extLst xmlns:a="http://schemas.openxmlformats.org/drawingml/2006/main">
              <a:ext uri="{FF2B5EF4-FFF2-40B4-BE49-F238E27FC236}">
                <a16:creationId xmlns:a16="http://schemas.microsoft.com/office/drawing/2014/main" id="{E87E4092-B0E3-4729-BFDB-7D1F94C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606" y="12614686"/>
            <a:ext cx="44375" cy="28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qr-corner-7">
            <a:extLst xmlns:a="http://schemas.openxmlformats.org/drawingml/2006/main">
              <a:ext uri="{FF2B5EF4-FFF2-40B4-BE49-F238E27FC236}">
                <a16:creationId xmlns:a16="http://schemas.microsoft.com/office/drawing/2014/main" id="{41F716A0-0C16-4F03-91A9-9B992FF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747" y="12852699"/>
            <a:ext cx="282388" cy="4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qr-corner-8">
            <a:extLst xmlns:a="http://schemas.openxmlformats.org/drawingml/2006/main">
              <a:ext uri="{FF2B5EF4-FFF2-40B4-BE49-F238E27FC236}">
                <a16:creationId xmlns:a16="http://schemas.microsoft.com/office/drawing/2014/main" id="{9D5FD461-DB96-4AB7-B9B4-3C46F145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2614686"/>
            <a:ext cx="44375" cy="28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qr-label">
            <a:extLst xmlns:a="http://schemas.openxmlformats.org/drawingml/2006/main">
              <a:ext uri="{FF2B5EF4-FFF2-40B4-BE49-F238E27FC236}">
                <a16:creationId xmlns:a16="http://schemas.microsoft.com/office/drawing/2014/main" id="{D5C26B9A-7D15-4C2A-A2F4-492796E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435" y="12239513"/>
            <a:ext cx="1048871" cy="2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7" b="1">
                <a:solidFill>
                  <a:srgbClr val="637184"/>
                </a:solidFill>
              </a:defRPr>
            </a:pPr>
            <a:r>
              <a:rPr sz="1207" b="1">
                <a:solidFill>
                  <a:srgbClr val="637184"/>
                </a:solidFill>
              </a:rPr>
              <a:t>QR SPACE</a:t>
            </a:r>
          </a:p>
        </p:txBody>
      </p:sp>
      <p:sp>
        <p:nvSpPr>
          <p:cNvPr id="181" name="qr-note">
            <a:extLst xmlns:a="http://schemas.openxmlformats.org/drawingml/2006/main">
              <a:ext uri="{FF2B5EF4-FFF2-40B4-BE49-F238E27FC236}">
                <a16:creationId xmlns:a16="http://schemas.microsoft.com/office/drawing/2014/main" id="{92EF5DD6-F108-429A-8FF8-602F067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435" y="12465424"/>
            <a:ext cx="1048871" cy="1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94" b="1">
                <a:solidFill>
                  <a:srgbClr val="637184"/>
                </a:solidFill>
              </a:defRPr>
            </a:pPr>
            <a:r>
              <a:rPr sz="794" b="1">
                <a:solidFill>
                  <a:srgbClr val="637184"/>
                </a:solidFill>
              </a:rPr>
              <a:t>LINK COMING SOON</a:t>
            </a:r>
          </a:p>
        </p:txBody>
      </p:sp>
      <p:sp>
        <p:nvSpPr>
          <p:cNvPr id="182" name="site-url">
            <a:extLst xmlns:a="http://schemas.openxmlformats.org/drawingml/2006/main">
              <a:ext uri="{FF2B5EF4-FFF2-40B4-BE49-F238E27FC236}">
                <a16:creationId xmlns:a16="http://schemas.microsoft.com/office/drawing/2014/main" id="{1705CEEF-7A4A-4293-AFB5-0AEBB0DD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9" y="13151224"/>
            <a:ext cx="3227294" cy="15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66" b="1">
                <a:solidFill>
                  <a:srgbClr val="0A1F33"/>
                </a:solidFill>
              </a:defRPr>
            </a:pPr>
            <a:r>
              <a:rPr sz="1366" b="1">
                <a:solidFill>
                  <a:srgbClr val="0A1F33"/>
                </a:solidFill>
              </a:rPr>
              <a:t>UnfairOrdinance.org</a:t>
            </a:r>
          </a:p>
        </p:txBody>
      </p:sp>
    </p:spTree>
    <p:extLst>
      <p:ext uri="{BB962C8B-B14F-4D97-AF65-F5344CB8AC3E}">
        <p14:creationId xmlns:p14="http://schemas.microsoft.com/office/powerpoint/2010/main" val="146073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2026-07-17T20:38:58.1220000Z</dcterms:created>
  <dcterms:modified xsi:type="dcterms:W3CDTF">2026-07-17T20:38:58.1220000Z</dcterms:modified>
</coreProperties>
</file>