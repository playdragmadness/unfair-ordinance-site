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58de246c834e4d" /><Relationship Type="http://schemas.openxmlformats.org/officeDocument/2006/relationships/extended-properties" Target="/docProps/app.xml" Id="Rc753e61f984243bf" /><Relationship Type="http://schemas.openxmlformats.org/officeDocument/2006/relationships/officeDocument" Target="/ppt/presentation.xml" Id="R0bf4224273c5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e92caf29d24753"/>
  </p:sldMasterIdLst>
  <p:notesMasterIdLst>
    <p:notesMasterId xmlns:r="http://schemas.openxmlformats.org/officeDocument/2006/relationships" r:id="R3c717e3134584488"/>
  </p:notesMasterIdLst>
  <p:sldIdLst>
    <p:sldId xmlns:r="http://schemas.openxmlformats.org/officeDocument/2006/relationships" id="256" r:id="Ra2cb627c7bbe4a60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fda3052014295" /><Relationship Type="http://schemas.openxmlformats.org/officeDocument/2006/relationships/slideMaster" Target="/ppt/slideMasters/slideMaster1.xml" Id="R51e92caf29d24753" /><Relationship Type="http://schemas.openxmlformats.org/officeDocument/2006/relationships/notesMaster" Target="/ppt/notesMasters/notesMaster1.xml" Id="R3c717e3134584488" /><Relationship Type="http://schemas.openxmlformats.org/officeDocument/2006/relationships/presProps" Target="/ppt/presProps.xml" Id="Rc28f25c0ab97445b" /><Relationship Type="http://schemas.openxmlformats.org/officeDocument/2006/relationships/tableStyles" Target="/ppt/tableStyles.xml" Id="Re8113be09d8a4227" /><Relationship Type="http://schemas.openxmlformats.org/officeDocument/2006/relationships/slide" Target="/ppt/slides/slide1.xml" Id="Ra2cb627c7bbe4a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1a0a6e5d1a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09b4c3b394431" /><Relationship Type="http://schemas.openxmlformats.org/officeDocument/2006/relationships/notesMaster" Target="/ppt/notesMasters/notesMaster1.xml" Id="Rdc3634cc5d75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8faf94fbe43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ab8bb6cd444ba9" /><Relationship Type="http://schemas.openxmlformats.org/officeDocument/2006/relationships/slideLayout" Target="/ppt/slideLayouts/slideLayout1.xml" Id="Ra44bcbe3c2ba43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4bcbe3c2ba43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462f7b22e459e" /><Relationship Type="http://schemas.openxmlformats.org/officeDocument/2006/relationships/notesSlide" Target="/ppt/notesSlides/notesSlide1.xml" Id="R6af4f71737d94b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6F4CCD-C2C4-479E-BE79-38A875BB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background">
            <a:extLst xmlns:a="http://schemas.openxmlformats.org/drawingml/2006/main">
              <a:ext uri="{FF2B5EF4-FFF2-40B4-BE49-F238E27FC236}">
                <a16:creationId xmlns:a16="http://schemas.microsoft.com/office/drawing/2014/main" id="{E66A6A7F-C3C0-49C4-932A-73E9100E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ro-stripe-1">
            <a:extLst xmlns:a="http://schemas.openxmlformats.org/drawingml/2006/main">
              <a:ext uri="{FF2B5EF4-FFF2-40B4-BE49-F238E27FC236}">
                <a16:creationId xmlns:a16="http://schemas.microsoft.com/office/drawing/2014/main" id="{EC1DF413-D58E-4F40-A56F-D4126A9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stripe-2">
            <a:extLst xmlns:a="http://schemas.openxmlformats.org/drawingml/2006/main">
              <a:ext uri="{FF2B5EF4-FFF2-40B4-BE49-F238E27FC236}">
                <a16:creationId xmlns:a16="http://schemas.microsoft.com/office/drawing/2014/main" id="{23917396-4B6B-4BB9-9E32-2A6BB5BE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stripe-3">
            <a:extLst xmlns:a="http://schemas.openxmlformats.org/drawingml/2006/main">
              <a:ext uri="{FF2B5EF4-FFF2-40B4-BE49-F238E27FC236}">
                <a16:creationId xmlns:a16="http://schemas.microsoft.com/office/drawing/2014/main" id="{A69B6760-13D4-49B6-9D83-82CFD2E0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ro-stripe-4">
            <a:extLst xmlns:a="http://schemas.openxmlformats.org/drawingml/2006/main">
              <a:ext uri="{FF2B5EF4-FFF2-40B4-BE49-F238E27FC236}">
                <a16:creationId xmlns:a16="http://schemas.microsoft.com/office/drawing/2014/main" id="{B159BBF6-ED9F-442F-B745-CFC7BAE3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ro-stripe-5">
            <a:extLst xmlns:a="http://schemas.openxmlformats.org/drawingml/2006/main">
              <a:ext uri="{FF2B5EF4-FFF2-40B4-BE49-F238E27FC236}">
                <a16:creationId xmlns:a16="http://schemas.microsoft.com/office/drawing/2014/main" id="{C301A06E-D60C-4B2C-B59C-1877A7C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ro-stripe-6">
            <a:extLst xmlns:a="http://schemas.openxmlformats.org/drawingml/2006/main">
              <a:ext uri="{FF2B5EF4-FFF2-40B4-BE49-F238E27FC236}">
                <a16:creationId xmlns:a16="http://schemas.microsoft.com/office/drawing/2014/main" id="{4947779C-BD6C-472E-BF64-1F50178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ero-stripe-7">
            <a:extLst xmlns:a="http://schemas.openxmlformats.org/drawingml/2006/main">
              <a:ext uri="{FF2B5EF4-FFF2-40B4-BE49-F238E27FC236}">
                <a16:creationId xmlns:a16="http://schemas.microsoft.com/office/drawing/2014/main" id="{697BA984-7802-499B-9807-26C7BB25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ro-stripe-8">
            <a:extLst xmlns:a="http://schemas.openxmlformats.org/drawingml/2006/main">
              <a:ext uri="{FF2B5EF4-FFF2-40B4-BE49-F238E27FC236}">
                <a16:creationId xmlns:a16="http://schemas.microsoft.com/office/drawing/2014/main" id="{48ED9A5F-BCC0-410F-BE7A-0EAB4B8A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ero-stripe-9">
            <a:extLst xmlns:a="http://schemas.openxmlformats.org/drawingml/2006/main">
              <a:ext uri="{FF2B5EF4-FFF2-40B4-BE49-F238E27FC236}">
                <a16:creationId xmlns:a16="http://schemas.microsoft.com/office/drawing/2014/main" id="{D3623239-5D71-4794-94E4-A09143AC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ro-stripe-10">
            <a:extLst xmlns:a="http://schemas.openxmlformats.org/drawingml/2006/main">
              <a:ext uri="{FF2B5EF4-FFF2-40B4-BE49-F238E27FC236}">
                <a16:creationId xmlns:a16="http://schemas.microsoft.com/office/drawing/2014/main" id="{407764F6-359A-4D0B-AAEA-9072698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ero-stripe-11">
            <a:extLst xmlns:a="http://schemas.openxmlformats.org/drawingml/2006/main">
              <a:ext uri="{FF2B5EF4-FFF2-40B4-BE49-F238E27FC236}">
                <a16:creationId xmlns:a16="http://schemas.microsoft.com/office/drawing/2014/main" id="{D58E2BB0-6A2C-4225-81AF-FB3A42E8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ero-stripe-12">
            <a:extLst xmlns:a="http://schemas.openxmlformats.org/drawingml/2006/main">
              <a:ext uri="{FF2B5EF4-FFF2-40B4-BE49-F238E27FC236}">
                <a16:creationId xmlns:a16="http://schemas.microsoft.com/office/drawing/2014/main" id="{F862C1F9-3E51-4719-A3B4-5CD8F873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ero-stripe-13">
            <a:extLst xmlns:a="http://schemas.openxmlformats.org/drawingml/2006/main">
              <a:ext uri="{FF2B5EF4-FFF2-40B4-BE49-F238E27FC236}">
                <a16:creationId xmlns:a16="http://schemas.microsoft.com/office/drawing/2014/main" id="{AC8C7461-4E93-482C-BCDD-70F445E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ero-stripe-14">
            <a:extLst xmlns:a="http://schemas.openxmlformats.org/drawingml/2006/main">
              <a:ext uri="{FF2B5EF4-FFF2-40B4-BE49-F238E27FC236}">
                <a16:creationId xmlns:a16="http://schemas.microsoft.com/office/drawing/2014/main" id="{D5C99BE9-AC30-4E61-9B0E-5F085E2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an-divider">
            <a:extLst xmlns:a="http://schemas.openxmlformats.org/drawingml/2006/main">
              <a:ext uri="{FF2B5EF4-FFF2-40B4-BE49-F238E27FC236}">
                <a16:creationId xmlns:a16="http://schemas.microsoft.com/office/drawing/2014/main" id="{5DA30D1E-640D-4DC3-8ACB-23C8936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028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ag-white">
            <a:extLst xmlns:a="http://schemas.openxmlformats.org/drawingml/2006/main">
              <a:ext uri="{FF2B5EF4-FFF2-40B4-BE49-F238E27FC236}">
                <a16:creationId xmlns:a16="http://schemas.microsoft.com/office/drawing/2014/main" id="{F672229D-A73B-4D0A-8F1B-198072AD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flag-blue">
            <a:extLst xmlns:a="http://schemas.openxmlformats.org/drawingml/2006/main">
              <a:ext uri="{FF2B5EF4-FFF2-40B4-BE49-F238E27FC236}">
                <a16:creationId xmlns:a16="http://schemas.microsoft.com/office/drawing/2014/main" id="{93CD6417-7FC0-4109-AEFC-353B20D4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ag-diamond-1">
            <a:extLst xmlns:a="http://schemas.openxmlformats.org/drawingml/2006/main">
              <a:ext uri="{FF2B5EF4-FFF2-40B4-BE49-F238E27FC236}">
                <a16:creationId xmlns:a16="http://schemas.microsoft.com/office/drawing/2014/main" id="{949A985A-505C-424D-B900-80B655B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ag-diamond-2">
            <a:extLst xmlns:a="http://schemas.openxmlformats.org/drawingml/2006/main">
              <a:ext uri="{FF2B5EF4-FFF2-40B4-BE49-F238E27FC236}">
                <a16:creationId xmlns:a16="http://schemas.microsoft.com/office/drawing/2014/main" id="{2023BC58-F3CA-410E-A8D2-56D30AD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43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ag-diamond-3">
            <a:extLst xmlns:a="http://schemas.openxmlformats.org/drawingml/2006/main">
              <a:ext uri="{FF2B5EF4-FFF2-40B4-BE49-F238E27FC236}">
                <a16:creationId xmlns:a16="http://schemas.microsoft.com/office/drawing/2014/main" id="{BD6B3C22-89E6-4A26-8538-FA9EF6F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143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lag-diamond-4">
            <a:extLst xmlns:a="http://schemas.openxmlformats.org/drawingml/2006/main">
              <a:ext uri="{FF2B5EF4-FFF2-40B4-BE49-F238E27FC236}">
                <a16:creationId xmlns:a16="http://schemas.microsoft.com/office/drawing/2014/main" id="{C356F98D-C477-499C-B2FF-71AC328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rand-name">
            <a:extLst xmlns:a="http://schemas.openxmlformats.org/drawingml/2006/main">
              <a:ext uri="{FF2B5EF4-FFF2-40B4-BE49-F238E27FC236}">
                <a16:creationId xmlns:a16="http://schemas.microsoft.com/office/drawing/2014/main" id="{D3EFC451-7D8B-4192-99EB-D948D6E2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UNFAIR ORDINANCE</a:t>
            </a:r>
          </a:p>
        </p:txBody>
      </p:sp>
      <p:sp>
        <p:nvSpPr>
          <p:cNvPr id="25" name="headline-1">
            <a:extLst xmlns:a="http://schemas.openxmlformats.org/drawingml/2006/main">
              <a:ext uri="{FF2B5EF4-FFF2-40B4-BE49-F238E27FC236}">
                <a16:creationId xmlns:a16="http://schemas.microsoft.com/office/drawing/2014/main" id="{5811AB45-11C4-4ADA-A7E6-FC7F8678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SO-CALLED</a:t>
            </a:r>
          </a:p>
        </p:txBody>
      </p:sp>
      <p:sp>
        <p:nvSpPr>
          <p:cNvPr id="26" name="headline-1-fair">
            <a:extLst xmlns:a="http://schemas.openxmlformats.org/drawingml/2006/main">
              <a:ext uri="{FF2B5EF4-FFF2-40B4-BE49-F238E27FC236}">
                <a16:creationId xmlns:a16="http://schemas.microsoft.com/office/drawing/2014/main" id="{071DC742-F5D3-45FA-994D-4AB641B2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472"/>
                </a:solidFill>
              </a:defRPr>
            </a:pPr>
            <a:r>
              <a:rPr sz="3900" b="1">
                <a:solidFill>
                  <a:srgbClr val="FF6472"/>
                </a:solidFill>
              </a:rPr>
              <a:t>FAIR</a:t>
            </a:r>
          </a:p>
        </p:txBody>
      </p:sp>
      <p:sp>
        <p:nvSpPr>
          <p:cNvPr id="27" name="headline-2-ordinance">
            <a:extLst xmlns:a="http://schemas.openxmlformats.org/drawingml/2006/main">
              <a:ext uri="{FF2B5EF4-FFF2-40B4-BE49-F238E27FC236}">
                <a16:creationId xmlns:a16="http://schemas.microsoft.com/office/drawing/2014/main" id="{7DD2DD30-73C4-4BF7-B579-5116645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472"/>
                </a:solidFill>
              </a:defRPr>
            </a:pPr>
            <a:r>
              <a:rPr sz="3900" b="1">
                <a:solidFill>
                  <a:srgbClr val="FF6472"/>
                </a:solidFill>
              </a:rPr>
              <a:t>ORDINANCE</a:t>
            </a:r>
          </a:p>
        </p:txBody>
      </p:sp>
      <p:sp>
        <p:nvSpPr>
          <p:cNvPr id="28" name="headline-2-is-an">
            <a:extLst xmlns:a="http://schemas.openxmlformats.org/drawingml/2006/main">
              <a:ext uri="{FF2B5EF4-FFF2-40B4-BE49-F238E27FC236}">
                <a16:creationId xmlns:a16="http://schemas.microsoft.com/office/drawing/2014/main" id="{E9562790-FB14-4E1B-A035-F855B82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IS AN</a:t>
            </a:r>
          </a:p>
        </p:txBody>
      </p:sp>
      <p:sp>
        <p:nvSpPr>
          <p:cNvPr id="29" name="headline-3">
            <a:extLst xmlns:a="http://schemas.openxmlformats.org/drawingml/2006/main">
              <a:ext uri="{FF2B5EF4-FFF2-40B4-BE49-F238E27FC236}">
                <a16:creationId xmlns:a16="http://schemas.microsoft.com/office/drawing/2014/main" id="{574E5BEA-57BA-4750-9ACF-789802DB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UNFAIR ROLLBACK</a:t>
            </a:r>
          </a:p>
        </p:txBody>
      </p:sp>
      <p:sp>
        <p:nvSpPr>
          <p:cNvPr id="30" name="headline-3-renters">
            <a:extLst xmlns:a="http://schemas.openxmlformats.org/drawingml/2006/main">
              <a:ext uri="{FF2B5EF4-FFF2-40B4-BE49-F238E27FC236}">
                <a16:creationId xmlns:a16="http://schemas.microsoft.com/office/drawing/2014/main" id="{2EBB55E4-FBBD-4D65-800E-5E67EA2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145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472"/>
                </a:solidFill>
              </a:defRPr>
            </a:pPr>
            <a:r>
              <a:rPr sz="3900" b="1">
                <a:solidFill>
                  <a:srgbClr val="FF6472"/>
                </a:solidFill>
              </a:rPr>
              <a:t>FOR RENTERS.</a:t>
            </a:r>
          </a:p>
        </p:txBody>
      </p:sp>
      <p:sp>
        <p:nvSpPr>
          <p:cNvPr id="31" name="subtitle-1">
            <a:extLst xmlns:a="http://schemas.openxmlformats.org/drawingml/2006/main">
              <a:ext uri="{FF2B5EF4-FFF2-40B4-BE49-F238E27FC236}">
                <a16:creationId xmlns:a16="http://schemas.microsoft.com/office/drawing/2014/main" id="{21208C52-7A9B-462E-A919-82247AAB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E6F0"/>
                </a:solidFill>
              </a:defRPr>
            </a:pPr>
            <a:r>
              <a:rPr sz="1650" b="1">
                <a:solidFill>
                  <a:srgbClr val="D8E6F0"/>
                </a:solidFill>
              </a:rPr>
              <a:t>A proposed law called the “Fair Ordinance” would roll back</a:t>
            </a:r>
          </a:p>
        </p:txBody>
      </p:sp>
      <p:sp>
        <p:nvSpPr>
          <p:cNvPr id="32" name="subtitle-2">
            <a:extLst xmlns:a="http://schemas.openxmlformats.org/drawingml/2006/main">
              <a:ext uri="{FF2B5EF4-FFF2-40B4-BE49-F238E27FC236}">
                <a16:creationId xmlns:a16="http://schemas.microsoft.com/office/drawing/2014/main" id="{EF137B42-3AF9-4F21-B6DB-779C3555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E6F0"/>
                </a:solidFill>
              </a:defRPr>
            </a:pPr>
            <a:r>
              <a:rPr sz="1650" b="1">
                <a:solidFill>
                  <a:srgbClr val="D8E6F0"/>
                </a:solidFill>
              </a:rPr>
              <a:t>renter protections in Chicago.</a:t>
            </a:r>
          </a:p>
        </p:txBody>
      </p:sp>
      <p:sp>
        <p:nvSpPr>
          <p:cNvPr id="33" name="table-body">
            <a:extLst xmlns:a="http://schemas.openxmlformats.org/drawingml/2006/main">
              <a:ext uri="{FF2B5EF4-FFF2-40B4-BE49-F238E27FC236}">
                <a16:creationId xmlns:a16="http://schemas.microsoft.com/office/drawing/2014/main" id="{D1232385-B3CA-420E-90E7-D394ECA3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94869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ED4C2"/>
            </a:solidFill>
            <a:prstDash val="solid"/>
          </a:ln>
        </p:spPr>
      </p:sp>
      <p:sp>
        <p:nvSpPr>
          <p:cNvPr id="3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64CDC2F1-2666-4DFF-B4AE-BB439FA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948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eader">
            <a:extLst xmlns:a="http://schemas.openxmlformats.org/drawingml/2006/main">
              <a:ext uri="{FF2B5EF4-FFF2-40B4-BE49-F238E27FC236}">
                <a16:creationId xmlns:a16="http://schemas.microsoft.com/office/drawing/2014/main" id="{1119AAB8-4E85-4CD0-9F41-EAE7CC6F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grid-row-1">
            <a:extLst xmlns:a="http://schemas.openxmlformats.org/drawingml/2006/main">
              <a:ext uri="{FF2B5EF4-FFF2-40B4-BE49-F238E27FC236}">
                <a16:creationId xmlns:a16="http://schemas.microsoft.com/office/drawing/2014/main" id="{0132F053-6167-460B-8B68-4BAF8684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77075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rid-row-2">
            <a:extLst xmlns:a="http://schemas.openxmlformats.org/drawingml/2006/main">
              <a:ext uri="{FF2B5EF4-FFF2-40B4-BE49-F238E27FC236}">
                <a16:creationId xmlns:a16="http://schemas.microsoft.com/office/drawing/2014/main" id="{837960AC-CCA4-4C55-960D-4F86900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15325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rid-row-3">
            <a:extLst xmlns:a="http://schemas.openxmlformats.org/drawingml/2006/main">
              <a:ext uri="{FF2B5EF4-FFF2-40B4-BE49-F238E27FC236}">
                <a16:creationId xmlns:a16="http://schemas.microsoft.com/office/drawing/2014/main" id="{54BAC6C7-33A0-4692-B553-87264832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53575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id-column-1">
            <a:extLst xmlns:a="http://schemas.openxmlformats.org/drawingml/2006/main">
              <a:ext uri="{FF2B5EF4-FFF2-40B4-BE49-F238E27FC236}">
                <a16:creationId xmlns:a16="http://schemas.microsoft.com/office/drawing/2014/main" id="{5C19E607-D4B4-497B-8015-E098801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00625"/>
            <a:ext cx="190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rid-column-2">
            <a:extLst xmlns:a="http://schemas.openxmlformats.org/drawingml/2006/main">
              <a:ext uri="{FF2B5EF4-FFF2-40B4-BE49-F238E27FC236}">
                <a16:creationId xmlns:a16="http://schemas.microsoft.com/office/drawing/2014/main" id="{2D3B2990-162F-4F34-8AD2-A7013F3F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190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rid-column-3">
            <a:extLst xmlns:a="http://schemas.openxmlformats.org/drawingml/2006/main">
              <a:ext uri="{FF2B5EF4-FFF2-40B4-BE49-F238E27FC236}">
                <a16:creationId xmlns:a16="http://schemas.microsoft.com/office/drawing/2014/main" id="{23782A69-3904-484E-8101-3E95894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00625"/>
            <a:ext cx="190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ding-protection">
            <a:extLst xmlns:a="http://schemas.openxmlformats.org/drawingml/2006/main">
              <a:ext uri="{FF2B5EF4-FFF2-40B4-BE49-F238E27FC236}">
                <a16:creationId xmlns:a16="http://schemas.microsoft.com/office/drawing/2014/main" id="{401A4FEB-DD28-4473-8F23-DDEDC37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244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F33"/>
                </a:solidFill>
              </a:defRPr>
            </a:pPr>
            <a:r>
              <a:rPr sz="1650" b="1">
                <a:solidFill>
                  <a:srgbClr val="0A1F33"/>
                </a:solidFill>
              </a:rPr>
              <a:t>Protection</a:t>
            </a:r>
          </a:p>
        </p:txBody>
      </p:sp>
      <p:sp>
        <p:nvSpPr>
          <p:cNvPr id="43" name="heading-current">
            <a:extLst xmlns:a="http://schemas.openxmlformats.org/drawingml/2006/main">
              <a:ext uri="{FF2B5EF4-FFF2-40B4-BE49-F238E27FC236}">
                <a16:creationId xmlns:a16="http://schemas.microsoft.com/office/drawing/2014/main" id="{A721DF47-A219-4697-AF39-21DEB9E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1F33"/>
                </a:solidFill>
              </a:defRPr>
            </a:pPr>
            <a:r>
              <a:rPr sz="1350" b="1">
                <a:solidFill>
                  <a:srgbClr val="0A1F33"/>
                </a:solidFill>
              </a:rPr>
              <a:t>Current law</a:t>
            </a:r>
          </a:p>
        </p:txBody>
      </p:sp>
      <p:sp>
        <p:nvSpPr>
          <p:cNvPr id="44" name="heading-rlto">
            <a:extLst xmlns:a="http://schemas.openxmlformats.org/drawingml/2006/main">
              <a:ext uri="{FF2B5EF4-FFF2-40B4-BE49-F238E27FC236}">
                <a16:creationId xmlns:a16="http://schemas.microsoft.com/office/drawing/2014/main" id="{0F06E40C-12BC-442A-B64D-F6400D0A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F33"/>
                </a:solidFill>
              </a:defRPr>
            </a:pPr>
            <a:r>
              <a:rPr sz="1200" b="1">
                <a:solidFill>
                  <a:srgbClr val="0A1F33"/>
                </a:solidFill>
              </a:rPr>
              <a:t>RLTO</a:t>
            </a:r>
          </a:p>
        </p:txBody>
      </p:sp>
      <p:sp>
        <p:nvSpPr>
          <p:cNvPr id="45" name="heading-proposal-1">
            <a:extLst xmlns:a="http://schemas.openxmlformats.org/drawingml/2006/main">
              <a:ext uri="{FF2B5EF4-FFF2-40B4-BE49-F238E27FC236}">
                <a16:creationId xmlns:a16="http://schemas.microsoft.com/office/drawing/2014/main" id="{8D23F802-0D2B-4A6A-9C63-CC7BB82B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625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1F33"/>
                </a:solidFill>
              </a:defRPr>
            </a:pPr>
            <a:r>
              <a:rPr sz="1350" b="1">
                <a:solidFill>
                  <a:srgbClr val="0A1F33"/>
                </a:solidFill>
              </a:rPr>
              <a:t>Stronger renter</a:t>
            </a:r>
          </a:p>
        </p:txBody>
      </p:sp>
      <p:sp>
        <p:nvSpPr>
          <p:cNvPr id="46" name="heading-proposal-2">
            <a:extLst xmlns:a="http://schemas.openxmlformats.org/drawingml/2006/main">
              <a:ext uri="{FF2B5EF4-FFF2-40B4-BE49-F238E27FC236}">
                <a16:creationId xmlns:a16="http://schemas.microsoft.com/office/drawing/2014/main" id="{A2A2BE3A-3787-4EAC-84E5-6E23836E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1F33"/>
                </a:solidFill>
              </a:defRPr>
            </a:pPr>
            <a:r>
              <a:rPr sz="1350" b="1">
                <a:solidFill>
                  <a:srgbClr val="0A1F33"/>
                </a:solidFill>
              </a:rPr>
              <a:t>proposal</a:t>
            </a:r>
          </a:p>
        </p:txBody>
      </p:sp>
      <p:sp>
        <p:nvSpPr>
          <p:cNvPr id="47" name="heading-fair-1">
            <a:extLst xmlns:a="http://schemas.openxmlformats.org/drawingml/2006/main">
              <a:ext uri="{FF2B5EF4-FFF2-40B4-BE49-F238E27FC236}">
                <a16:creationId xmlns:a16="http://schemas.microsoft.com/office/drawing/2014/main" id="{DE8CBD18-ABC6-4ECC-941C-466F7477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6255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1F33"/>
                </a:solidFill>
              </a:defRPr>
            </a:pPr>
            <a:r>
              <a:rPr sz="1350" b="1">
                <a:solidFill>
                  <a:srgbClr val="0A1F33"/>
                </a:solidFill>
              </a:rPr>
              <a:t>“Fair”</a:t>
            </a:r>
          </a:p>
        </p:txBody>
      </p:sp>
      <p:sp>
        <p:nvSpPr>
          <p:cNvPr id="48" name="heading-fair-2">
            <a:extLst xmlns:a="http://schemas.openxmlformats.org/drawingml/2006/main">
              <a:ext uri="{FF2B5EF4-FFF2-40B4-BE49-F238E27FC236}">
                <a16:creationId xmlns:a16="http://schemas.microsoft.com/office/drawing/2014/main" id="{BF59114F-8192-4D4D-A4D5-10C6243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1020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1F33"/>
                </a:solidFill>
              </a:defRPr>
            </a:pPr>
            <a:r>
              <a:rPr sz="1350" b="1">
                <a:solidFill>
                  <a:srgbClr val="0A1F33"/>
                </a:solidFill>
              </a:rPr>
              <a:t>Ordinance</a:t>
            </a:r>
          </a:p>
        </p:txBody>
      </p:sp>
      <p:sp>
        <p:nvSpPr>
          <p:cNvPr id="49" name="row-1-label-1">
            <a:extLst xmlns:a="http://schemas.openxmlformats.org/drawingml/2006/main">
              <a:ext uri="{FF2B5EF4-FFF2-40B4-BE49-F238E27FC236}">
                <a16:creationId xmlns:a16="http://schemas.microsoft.com/office/drawing/2014/main" id="{923AE2B6-19E7-423F-B323-0316515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Just cause to end or</a:t>
            </a:r>
          </a:p>
        </p:txBody>
      </p:sp>
      <p:sp>
        <p:nvSpPr>
          <p:cNvPr id="50" name="row-1-label-2">
            <a:extLst xmlns:a="http://schemas.openxmlformats.org/drawingml/2006/main">
              <a:ext uri="{FF2B5EF4-FFF2-40B4-BE49-F238E27FC236}">
                <a16:creationId xmlns:a16="http://schemas.microsoft.com/office/drawing/2014/main" id="{358B7128-D587-45CA-BD5C-D51C460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refuse renewal of tenancy</a:t>
            </a:r>
          </a:p>
        </p:txBody>
      </p:sp>
      <p:sp>
        <p:nvSpPr>
          <p:cNvPr id="51" name="row-1-note-1">
            <a:extLst xmlns:a="http://schemas.openxmlformats.org/drawingml/2006/main">
              <a:ext uri="{FF2B5EF4-FFF2-40B4-BE49-F238E27FC236}">
                <a16:creationId xmlns:a16="http://schemas.microsoft.com/office/drawing/2014/main" id="{F0D751F3-128A-48F6-BC46-6C2A2CE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Requires a landlord to give a</a:t>
            </a:r>
          </a:p>
        </p:txBody>
      </p:sp>
      <p:sp>
        <p:nvSpPr>
          <p:cNvPr id="52" name="row-1-note-2">
            <a:extLst xmlns:a="http://schemas.openxmlformats.org/drawingml/2006/main">
              <a:ext uri="{FF2B5EF4-FFF2-40B4-BE49-F238E27FC236}">
                <a16:creationId xmlns:a16="http://schemas.microsoft.com/office/drawing/2014/main" id="{E4FC6627-CF44-42B5-A6F1-E67BF2DE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0350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valid reason before forcing</a:t>
            </a:r>
          </a:p>
        </p:txBody>
      </p:sp>
      <p:sp>
        <p:nvSpPr>
          <p:cNvPr id="53" name="row-1-note-3">
            <a:extLst xmlns:a="http://schemas.openxmlformats.org/drawingml/2006/main">
              <a:ext uri="{FF2B5EF4-FFF2-40B4-BE49-F238E27FC236}">
                <a16:creationId xmlns:a16="http://schemas.microsoft.com/office/drawing/2014/main" id="{DBF92D76-FD3F-4672-B084-408565F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91325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a tenant to move.</a:t>
            </a:r>
          </a:p>
        </p:txBody>
      </p:sp>
      <p:sp>
        <p:nvSpPr>
          <p:cNvPr id="54" name="row-2-label-1">
            <a:extLst xmlns:a="http://schemas.openxmlformats.org/drawingml/2006/main">
              <a:ext uri="{FF2B5EF4-FFF2-40B4-BE49-F238E27FC236}">
                <a16:creationId xmlns:a16="http://schemas.microsoft.com/office/drawing/2014/main" id="{E3277501-6742-4E1E-8208-F68C69D0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0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Clear eviction defenses</a:t>
            </a:r>
          </a:p>
        </p:txBody>
      </p:sp>
      <p:sp>
        <p:nvSpPr>
          <p:cNvPr id="55" name="row-2-label-2">
            <a:extLst xmlns:a="http://schemas.openxmlformats.org/drawingml/2006/main">
              <a:ext uri="{FF2B5EF4-FFF2-40B4-BE49-F238E27FC236}">
                <a16:creationId xmlns:a16="http://schemas.microsoft.com/office/drawing/2014/main" id="{45CCFC8B-4F4B-4059-991C-55F0940C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818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when rules are violated</a:t>
            </a:r>
          </a:p>
        </p:txBody>
      </p:sp>
      <p:sp>
        <p:nvSpPr>
          <p:cNvPr id="56" name="row-2-note-1">
            <a:extLst xmlns:a="http://schemas.openxmlformats.org/drawingml/2006/main">
              <a:ext uri="{FF2B5EF4-FFF2-40B4-BE49-F238E27FC236}">
                <a16:creationId xmlns:a16="http://schemas.microsoft.com/office/drawing/2014/main" id="{0BF1A6A9-719E-47CC-B836-3E86490C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67625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Tenants can raise</a:t>
            </a:r>
          </a:p>
        </p:txBody>
      </p:sp>
      <p:sp>
        <p:nvSpPr>
          <p:cNvPr id="57" name="row-2-note-2">
            <a:extLst xmlns:a="http://schemas.openxmlformats.org/drawingml/2006/main">
              <a:ext uri="{FF2B5EF4-FFF2-40B4-BE49-F238E27FC236}">
                <a16:creationId xmlns:a16="http://schemas.microsoft.com/office/drawing/2014/main" id="{AB1533D1-8B4E-480F-8BA7-1C0E76F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48600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violations in court.</a:t>
            </a:r>
          </a:p>
        </p:txBody>
      </p:sp>
      <p:sp>
        <p:nvSpPr>
          <p:cNvPr id="58" name="row-3-label-1">
            <a:extLst xmlns:a="http://schemas.openxmlformats.org/drawingml/2006/main">
              <a:ext uri="{FF2B5EF4-FFF2-40B4-BE49-F238E27FC236}">
                <a16:creationId xmlns:a16="http://schemas.microsoft.com/office/drawing/2014/main" id="{7F836EF6-91FA-49D4-A1FD-6AB39235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0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Relocation help for</a:t>
            </a:r>
          </a:p>
        </p:txBody>
      </p:sp>
      <p:sp>
        <p:nvSpPr>
          <p:cNvPr id="59" name="row-3-label-2">
            <a:extLst xmlns:a="http://schemas.openxmlformats.org/drawingml/2006/main">
              <a:ext uri="{FF2B5EF4-FFF2-40B4-BE49-F238E27FC236}">
                <a16:creationId xmlns:a16="http://schemas.microsoft.com/office/drawing/2014/main" id="{89134435-0011-47CC-A547-B676020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2012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no-fault displacement</a:t>
            </a:r>
          </a:p>
        </p:txBody>
      </p:sp>
      <p:sp>
        <p:nvSpPr>
          <p:cNvPr id="60" name="row-3-note-1">
            <a:extLst xmlns:a="http://schemas.openxmlformats.org/drawingml/2006/main">
              <a:ext uri="{FF2B5EF4-FFF2-40B4-BE49-F238E27FC236}">
                <a16:creationId xmlns:a16="http://schemas.microsoft.com/office/drawing/2014/main" id="{3EE9BBB7-69FD-4D7E-A043-826327A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05875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Requires moving assistance</a:t>
            </a:r>
          </a:p>
        </p:txBody>
      </p:sp>
      <p:sp>
        <p:nvSpPr>
          <p:cNvPr id="61" name="row-3-note-2">
            <a:extLst xmlns:a="http://schemas.openxmlformats.org/drawingml/2006/main">
              <a:ext uri="{FF2B5EF4-FFF2-40B4-BE49-F238E27FC236}">
                <a16:creationId xmlns:a16="http://schemas.microsoft.com/office/drawing/2014/main" id="{40FD6ACC-1CA7-4C57-A7E0-CA0E5B2E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86850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when a tenant is forced to</a:t>
            </a:r>
          </a:p>
        </p:txBody>
      </p:sp>
      <p:sp>
        <p:nvSpPr>
          <p:cNvPr id="62" name="row-3-note-3">
            <a:extLst xmlns:a="http://schemas.openxmlformats.org/drawingml/2006/main">
              <a:ext uri="{FF2B5EF4-FFF2-40B4-BE49-F238E27FC236}">
                <a16:creationId xmlns:a16="http://schemas.microsoft.com/office/drawing/2014/main" id="{BFD8DA66-B99A-4658-92FC-02C788B7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267825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move from no fault of their own.</a:t>
            </a:r>
          </a:p>
        </p:txBody>
      </p:sp>
      <p:sp>
        <p:nvSpPr>
          <p:cNvPr id="63" name="row-4-label-1">
            <a:extLst xmlns:a="http://schemas.openxmlformats.org/drawingml/2006/main">
              <a:ext uri="{FF2B5EF4-FFF2-40B4-BE49-F238E27FC236}">
                <a16:creationId xmlns:a16="http://schemas.microsoft.com/office/drawing/2014/main" id="{791D2C8D-D9EE-42E1-9AFE-72C50AE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0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A remedy for late</a:t>
            </a:r>
          </a:p>
        </p:txBody>
      </p:sp>
      <p:sp>
        <p:nvSpPr>
          <p:cNvPr id="64" name="row-4-label-2">
            <a:extLst xmlns:a="http://schemas.openxmlformats.org/drawingml/2006/main">
              <a:ext uri="{FF2B5EF4-FFF2-40B4-BE49-F238E27FC236}">
                <a16:creationId xmlns:a16="http://schemas.microsoft.com/office/drawing/2014/main" id="{CD46223C-AE67-4951-9AB4-7A3CA1A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58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non-renewal notice</a:t>
            </a:r>
          </a:p>
        </p:txBody>
      </p:sp>
      <p:sp>
        <p:nvSpPr>
          <p:cNvPr id="65" name="row-4-note-1">
            <a:extLst xmlns:a="http://schemas.openxmlformats.org/drawingml/2006/main">
              <a:ext uri="{FF2B5EF4-FFF2-40B4-BE49-F238E27FC236}">
                <a16:creationId xmlns:a16="http://schemas.microsoft.com/office/drawing/2014/main" id="{C9FBBE50-7BBE-45EE-BB20-9D1837DE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44125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A consequence when</a:t>
            </a:r>
          </a:p>
        </p:txBody>
      </p:sp>
      <p:sp>
        <p:nvSpPr>
          <p:cNvPr id="66" name="row-4-note-2">
            <a:extLst xmlns:a="http://schemas.openxmlformats.org/drawingml/2006/main">
              <a:ext uri="{FF2B5EF4-FFF2-40B4-BE49-F238E27FC236}">
                <a16:creationId xmlns:a16="http://schemas.microsoft.com/office/drawing/2014/main" id="{4EFF3DB9-68CA-4D32-96A2-3407CFB2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25100"/>
            <a:ext cx="385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84"/>
                </a:solidFill>
              </a:defRPr>
            </a:pPr>
            <a:r>
              <a:rPr sz="1200" b="1">
                <a:solidFill>
                  <a:srgbClr val="637184"/>
                </a:solidFill>
              </a:rPr>
              <a:t>notice is ignored.</a:t>
            </a:r>
          </a:p>
        </p:txBody>
      </p:sp>
      <p:sp>
        <p:nvSpPr>
          <p:cNvPr id="67" name="current-1-circle">
            <a:extLst xmlns:a="http://schemas.openxmlformats.org/drawingml/2006/main">
              <a:ext uri="{FF2B5EF4-FFF2-40B4-BE49-F238E27FC236}">
                <a16:creationId xmlns:a16="http://schemas.microsoft.com/office/drawing/2014/main" id="{3BE30AA5-FF03-45D3-A840-0C4E0A08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43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urrent-1-mark">
            <a:extLst xmlns:a="http://schemas.openxmlformats.org/drawingml/2006/main">
              <a:ext uri="{FF2B5EF4-FFF2-40B4-BE49-F238E27FC236}">
                <a16:creationId xmlns:a16="http://schemas.microsoft.com/office/drawing/2014/main" id="{7A832411-FB68-4EE6-9153-C22B533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81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69" name="current-1-note">
            <a:extLst xmlns:a="http://schemas.openxmlformats.org/drawingml/2006/main">
              <a:ext uri="{FF2B5EF4-FFF2-40B4-BE49-F238E27FC236}">
                <a16:creationId xmlns:a16="http://schemas.microsoft.com/office/drawing/2014/main" id="{62C85AB5-EBC7-44E4-995B-F0B073E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562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Not required</a:t>
            </a:r>
          </a:p>
        </p:txBody>
      </p:sp>
      <p:sp>
        <p:nvSpPr>
          <p:cNvPr id="70" name="current-2-circle">
            <a:extLst xmlns:a="http://schemas.openxmlformats.org/drawingml/2006/main">
              <a:ext uri="{FF2B5EF4-FFF2-40B4-BE49-F238E27FC236}">
                <a16:creationId xmlns:a16="http://schemas.microsoft.com/office/drawing/2014/main" id="{3D5886E7-E495-4E80-B1FA-84E8D0B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381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urrent-2-mark">
            <a:extLst xmlns:a="http://schemas.openxmlformats.org/drawingml/2006/main">
              <a:ext uri="{FF2B5EF4-FFF2-40B4-BE49-F238E27FC236}">
                <a16:creationId xmlns:a16="http://schemas.microsoft.com/office/drawing/2014/main" id="{33A9B434-8C7E-4854-9096-9F27736D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4199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F33"/>
                </a:solidFill>
              </a:defRPr>
            </a:pPr>
            <a:r>
              <a:rPr sz="1800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72" name="current-2-note">
            <a:extLst xmlns:a="http://schemas.openxmlformats.org/drawingml/2006/main">
              <a:ext uri="{FF2B5EF4-FFF2-40B4-BE49-F238E27FC236}">
                <a16:creationId xmlns:a16="http://schemas.microsoft.com/office/drawing/2014/main" id="{B8F1F97A-6647-42EB-9E0A-6DEF96CA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800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Limited / implied</a:t>
            </a:r>
          </a:p>
        </p:txBody>
      </p:sp>
      <p:sp>
        <p:nvSpPr>
          <p:cNvPr id="73" name="current-3-circle">
            <a:extLst xmlns:a="http://schemas.openxmlformats.org/drawingml/2006/main">
              <a:ext uri="{FF2B5EF4-FFF2-40B4-BE49-F238E27FC236}">
                <a16:creationId xmlns:a16="http://schemas.microsoft.com/office/drawing/2014/main" id="{C85B26D5-5B50-4DB2-B9E0-40C6927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620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urrent-3-mark">
            <a:extLst xmlns:a="http://schemas.openxmlformats.org/drawingml/2006/main">
              <a:ext uri="{FF2B5EF4-FFF2-40B4-BE49-F238E27FC236}">
                <a16:creationId xmlns:a16="http://schemas.microsoft.com/office/drawing/2014/main" id="{05ECFD5F-B5A2-48D1-835C-91E367CD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6582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75" name="current-3-note">
            <a:extLst xmlns:a="http://schemas.openxmlformats.org/drawingml/2006/main">
              <a:ext uri="{FF2B5EF4-FFF2-40B4-BE49-F238E27FC236}">
                <a16:creationId xmlns:a16="http://schemas.microsoft.com/office/drawing/2014/main" id="{2FB0EBAC-4304-4D62-B244-5E0351E9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9039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Not required</a:t>
            </a:r>
          </a:p>
        </p:txBody>
      </p:sp>
      <p:sp>
        <p:nvSpPr>
          <p:cNvPr id="76" name="current-4-circle">
            <a:extLst xmlns:a="http://schemas.openxmlformats.org/drawingml/2006/main">
              <a:ext uri="{FF2B5EF4-FFF2-40B4-BE49-F238E27FC236}">
                <a16:creationId xmlns:a16="http://schemas.microsoft.com/office/drawing/2014/main" id="{55CD32B8-675A-4370-95F1-C676FAD4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858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urrent-4-mark">
            <a:extLst xmlns:a="http://schemas.openxmlformats.org/drawingml/2006/main">
              <a:ext uri="{FF2B5EF4-FFF2-40B4-BE49-F238E27FC236}">
                <a16:creationId xmlns:a16="http://schemas.microsoft.com/office/drawing/2014/main" id="{368922DA-DEC9-4CD6-A0FD-03D1AA1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8964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8" name="current-4-note">
            <a:extLst xmlns:a="http://schemas.openxmlformats.org/drawingml/2006/main">
              <a:ext uri="{FF2B5EF4-FFF2-40B4-BE49-F238E27FC236}">
                <a16:creationId xmlns:a16="http://schemas.microsoft.com/office/drawing/2014/main" id="{03B2F025-6043-4EAF-AA4F-7629D00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7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Tenant may stay</a:t>
            </a:r>
          </a:p>
        </p:txBody>
      </p:sp>
      <p:sp>
        <p:nvSpPr>
          <p:cNvPr id="79" name="proposal-1-circle">
            <a:extLst xmlns:a="http://schemas.openxmlformats.org/drawingml/2006/main">
              <a:ext uri="{FF2B5EF4-FFF2-40B4-BE49-F238E27FC236}">
                <a16:creationId xmlns:a16="http://schemas.microsoft.com/office/drawing/2014/main" id="{75A341D1-4621-4763-8D0F-742A9C7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143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oposal-1-mark">
            <a:extLst xmlns:a="http://schemas.openxmlformats.org/drawingml/2006/main">
              <a:ext uri="{FF2B5EF4-FFF2-40B4-BE49-F238E27FC236}">
                <a16:creationId xmlns:a16="http://schemas.microsoft.com/office/drawing/2014/main" id="{5EE61B8E-B607-473A-9840-580A59A4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181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1" name="proposal-1-note">
            <a:extLst xmlns:a="http://schemas.openxmlformats.org/drawingml/2006/main">
              <a:ext uri="{FF2B5EF4-FFF2-40B4-BE49-F238E27FC236}">
                <a16:creationId xmlns:a16="http://schemas.microsoft.com/office/drawing/2014/main" id="{E79B5A62-93FC-4298-A6D3-4BCCA2D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562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5B"/>
                </a:solidFill>
              </a:defRPr>
            </a:pPr>
            <a:r>
              <a:rPr sz="1050" b="1">
                <a:solidFill>
                  <a:srgbClr val="16775B"/>
                </a:solidFill>
              </a:rPr>
              <a:t>Adds it</a:t>
            </a:r>
          </a:p>
        </p:txBody>
      </p:sp>
      <p:sp>
        <p:nvSpPr>
          <p:cNvPr id="82" name="proposal-2-circle">
            <a:extLst xmlns:a="http://schemas.openxmlformats.org/drawingml/2006/main">
              <a:ext uri="{FF2B5EF4-FFF2-40B4-BE49-F238E27FC236}">
                <a16:creationId xmlns:a16="http://schemas.microsoft.com/office/drawing/2014/main" id="{FFD3CC60-93C1-4BC9-BC83-C121752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381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roposal-2-mark">
            <a:extLst xmlns:a="http://schemas.openxmlformats.org/drawingml/2006/main">
              <a:ext uri="{FF2B5EF4-FFF2-40B4-BE49-F238E27FC236}">
                <a16:creationId xmlns:a16="http://schemas.microsoft.com/office/drawing/2014/main" id="{1605C179-9E7A-4040-AB9D-7D574B8B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4199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4" name="proposal-2-note">
            <a:extLst xmlns:a="http://schemas.openxmlformats.org/drawingml/2006/main">
              <a:ext uri="{FF2B5EF4-FFF2-40B4-BE49-F238E27FC236}">
                <a16:creationId xmlns:a16="http://schemas.microsoft.com/office/drawing/2014/main" id="{3765E47B-8F92-498C-ACDD-4E0AE6EC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800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5B"/>
                </a:solidFill>
              </a:defRPr>
            </a:pPr>
            <a:r>
              <a:rPr sz="1050" b="1">
                <a:solidFill>
                  <a:srgbClr val="16775B"/>
                </a:solidFill>
              </a:rPr>
              <a:t>Strongest</a:t>
            </a:r>
          </a:p>
        </p:txBody>
      </p:sp>
      <p:sp>
        <p:nvSpPr>
          <p:cNvPr id="85" name="proposal-3-circle">
            <a:extLst xmlns:a="http://schemas.openxmlformats.org/drawingml/2006/main">
              <a:ext uri="{FF2B5EF4-FFF2-40B4-BE49-F238E27FC236}">
                <a16:creationId xmlns:a16="http://schemas.microsoft.com/office/drawing/2014/main" id="{0826538F-D059-4942-8812-1A4FC2B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620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roposal-3-mark">
            <a:extLst xmlns:a="http://schemas.openxmlformats.org/drawingml/2006/main">
              <a:ext uri="{FF2B5EF4-FFF2-40B4-BE49-F238E27FC236}">
                <a16:creationId xmlns:a16="http://schemas.microsoft.com/office/drawing/2014/main" id="{F3751CB2-95E1-4049-A25F-799E420C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6582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7" name="proposal-3-note">
            <a:extLst xmlns:a="http://schemas.openxmlformats.org/drawingml/2006/main">
              <a:ext uri="{FF2B5EF4-FFF2-40B4-BE49-F238E27FC236}">
                <a16:creationId xmlns:a16="http://schemas.microsoft.com/office/drawing/2014/main" id="{618CA520-4371-4BC1-87BB-396319B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039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5B"/>
                </a:solidFill>
              </a:defRPr>
            </a:pPr>
            <a:r>
              <a:rPr sz="1050" b="1">
                <a:solidFill>
                  <a:srgbClr val="16775B"/>
                </a:solidFill>
              </a:rPr>
              <a:t>Adds it</a:t>
            </a:r>
          </a:p>
        </p:txBody>
      </p:sp>
      <p:sp>
        <p:nvSpPr>
          <p:cNvPr id="88" name="proposal-4-circle">
            <a:extLst xmlns:a="http://schemas.openxmlformats.org/drawingml/2006/main">
              <a:ext uri="{FF2B5EF4-FFF2-40B4-BE49-F238E27FC236}">
                <a16:creationId xmlns:a16="http://schemas.microsoft.com/office/drawing/2014/main" id="{67685E83-2426-4DD9-A059-E54F698F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9858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roposal-4-mark">
            <a:extLst xmlns:a="http://schemas.openxmlformats.org/drawingml/2006/main">
              <a:ext uri="{FF2B5EF4-FFF2-40B4-BE49-F238E27FC236}">
                <a16:creationId xmlns:a16="http://schemas.microsoft.com/office/drawing/2014/main" id="{80AADF77-3502-4204-9D7E-0D7607B0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98964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0" name="proposal-4-note">
            <a:extLst xmlns:a="http://schemas.openxmlformats.org/drawingml/2006/main">
              <a:ext uri="{FF2B5EF4-FFF2-40B4-BE49-F238E27FC236}">
                <a16:creationId xmlns:a16="http://schemas.microsoft.com/office/drawing/2014/main" id="{0EE40CDE-D9B7-4248-AAED-8D72E1FE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7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5B"/>
                </a:solidFill>
              </a:defRPr>
            </a:pPr>
            <a:r>
              <a:rPr sz="1050" b="1">
                <a:solidFill>
                  <a:srgbClr val="16775B"/>
                </a:solidFill>
              </a:rPr>
              <a:t>Keeps protections</a:t>
            </a:r>
          </a:p>
        </p:txBody>
      </p:sp>
      <p:sp>
        <p:nvSpPr>
          <p:cNvPr id="91" name="fair-1-circle">
            <a:extLst xmlns:a="http://schemas.openxmlformats.org/drawingml/2006/main">
              <a:ext uri="{FF2B5EF4-FFF2-40B4-BE49-F238E27FC236}">
                <a16:creationId xmlns:a16="http://schemas.microsoft.com/office/drawing/2014/main" id="{C5528022-392D-4960-B0F3-D9A1606E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143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fair-1-mark">
            <a:extLst xmlns:a="http://schemas.openxmlformats.org/drawingml/2006/main">
              <a:ext uri="{FF2B5EF4-FFF2-40B4-BE49-F238E27FC236}">
                <a16:creationId xmlns:a16="http://schemas.microsoft.com/office/drawing/2014/main" id="{E41F1AA8-E8B3-4B1F-A95C-16EB7C9F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181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93" name="fair-1-note">
            <a:extLst xmlns:a="http://schemas.openxmlformats.org/drawingml/2006/main">
              <a:ext uri="{FF2B5EF4-FFF2-40B4-BE49-F238E27FC236}">
                <a16:creationId xmlns:a16="http://schemas.microsoft.com/office/drawing/2014/main" id="{DBAE2A79-350A-4C9C-A97F-34268CC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562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Leaves it out</a:t>
            </a:r>
          </a:p>
        </p:txBody>
      </p:sp>
      <p:sp>
        <p:nvSpPr>
          <p:cNvPr id="94" name="fair-2-circle">
            <a:extLst xmlns:a="http://schemas.openxmlformats.org/drawingml/2006/main">
              <a:ext uri="{FF2B5EF4-FFF2-40B4-BE49-F238E27FC236}">
                <a16:creationId xmlns:a16="http://schemas.microsoft.com/office/drawing/2014/main" id="{9D88D93E-746C-4025-A696-02A303EA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381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fair-2-mark">
            <a:extLst xmlns:a="http://schemas.openxmlformats.org/drawingml/2006/main">
              <a:ext uri="{FF2B5EF4-FFF2-40B4-BE49-F238E27FC236}">
                <a16:creationId xmlns:a16="http://schemas.microsoft.com/office/drawing/2014/main" id="{36EE8625-F7B9-4EE1-81A2-43A42A6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4199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96" name="fair-2-note">
            <a:extLst xmlns:a="http://schemas.openxmlformats.org/drawingml/2006/main">
              <a:ext uri="{FF2B5EF4-FFF2-40B4-BE49-F238E27FC236}">
                <a16:creationId xmlns:a16="http://schemas.microsoft.com/office/drawing/2014/main" id="{1C204F79-5729-493C-ADFF-6EC5BD06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800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Removes defenses</a:t>
            </a:r>
          </a:p>
        </p:txBody>
      </p:sp>
      <p:sp>
        <p:nvSpPr>
          <p:cNvPr id="97" name="fair-3-circle">
            <a:extLst xmlns:a="http://schemas.openxmlformats.org/drawingml/2006/main">
              <a:ext uri="{FF2B5EF4-FFF2-40B4-BE49-F238E27FC236}">
                <a16:creationId xmlns:a16="http://schemas.microsoft.com/office/drawing/2014/main" id="{AA2A474F-0C10-49EA-B6D5-AA37110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620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fair-3-mark">
            <a:extLst xmlns:a="http://schemas.openxmlformats.org/drawingml/2006/main">
              <a:ext uri="{FF2B5EF4-FFF2-40B4-BE49-F238E27FC236}">
                <a16:creationId xmlns:a16="http://schemas.microsoft.com/office/drawing/2014/main" id="{49AE10A9-A3FE-4CFE-8481-EBB56085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6582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99" name="fair-3-note">
            <a:extLst xmlns:a="http://schemas.openxmlformats.org/drawingml/2006/main">
              <a:ext uri="{FF2B5EF4-FFF2-40B4-BE49-F238E27FC236}">
                <a16:creationId xmlns:a16="http://schemas.microsoft.com/office/drawing/2014/main" id="{DB90FEFB-D29C-49CB-8078-B28EE94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9039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Leaves it out</a:t>
            </a:r>
          </a:p>
        </p:txBody>
      </p:sp>
      <p:sp>
        <p:nvSpPr>
          <p:cNvPr id="100" name="fair-4-circle">
            <a:extLst xmlns:a="http://schemas.openxmlformats.org/drawingml/2006/main">
              <a:ext uri="{FF2B5EF4-FFF2-40B4-BE49-F238E27FC236}">
                <a16:creationId xmlns:a16="http://schemas.microsoft.com/office/drawing/2014/main" id="{CE864D89-E551-47C4-B3B5-444155C9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858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fair-4-mark">
            <a:extLst xmlns:a="http://schemas.openxmlformats.org/drawingml/2006/main">
              <a:ext uri="{FF2B5EF4-FFF2-40B4-BE49-F238E27FC236}">
                <a16:creationId xmlns:a16="http://schemas.microsoft.com/office/drawing/2014/main" id="{BEC43E42-3278-40EF-97C1-2E66BCA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8964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02" name="fair-4-note">
            <a:extLst xmlns:a="http://schemas.openxmlformats.org/drawingml/2006/main">
              <a:ext uri="{FF2B5EF4-FFF2-40B4-BE49-F238E27FC236}">
                <a16:creationId xmlns:a16="http://schemas.microsoft.com/office/drawing/2014/main" id="{2FEC535B-0F28-4C01-8EE6-4B54757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7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184"/>
                </a:solidFill>
              </a:defRPr>
            </a:pPr>
            <a:r>
              <a:rPr sz="1050" b="1">
                <a:solidFill>
                  <a:srgbClr val="637184"/>
                </a:solidFill>
              </a:rPr>
              <a:t>Removes remedy</a:t>
            </a:r>
          </a:p>
        </p:txBody>
      </p:sp>
      <p:sp>
        <p:nvSpPr>
          <p:cNvPr id="103" name="action-button">
            <a:extLst xmlns:a="http://schemas.openxmlformats.org/drawingml/2006/main">
              <a:ext uri="{FF2B5EF4-FFF2-40B4-BE49-F238E27FC236}">
                <a16:creationId xmlns:a16="http://schemas.microsoft.com/office/drawing/2014/main" id="{2351CD18-C819-4335-B430-3EDBAA67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0"/>
            <a:ext cx="94869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action-text">
            <a:extLst xmlns:a="http://schemas.openxmlformats.org/drawingml/2006/main">
              <a:ext uri="{FF2B5EF4-FFF2-40B4-BE49-F238E27FC236}">
                <a16:creationId xmlns:a16="http://schemas.microsoft.com/office/drawing/2014/main" id="{506AB985-416E-4752-ADC7-7E27873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0"/>
            <a:ext cx="948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1F33"/>
                </a:solidFill>
              </a:defRPr>
            </a:pPr>
            <a:r>
              <a:rPr sz="2100" b="1">
                <a:solidFill>
                  <a:srgbClr val="0A1F33"/>
                </a:solidFill>
              </a:rPr>
              <a:t>Go to UnfairOrdinance.org to take action.</a:t>
            </a:r>
          </a:p>
        </p:txBody>
      </p:sp>
    </p:spTree>
    <p:extLst>
      <p:ext uri="{BB962C8B-B14F-4D97-AF65-F5344CB8AC3E}">
        <p14:creationId xmlns:p14="http://schemas.microsoft.com/office/powerpoint/2010/main" val="68987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2026-07-17T19:58:16.7740000Z</dcterms:created>
  <dcterms:modified xsi:type="dcterms:W3CDTF">2026-07-17T19:58:16.7750000Z</dcterms:modified>
</coreProperties>
</file>